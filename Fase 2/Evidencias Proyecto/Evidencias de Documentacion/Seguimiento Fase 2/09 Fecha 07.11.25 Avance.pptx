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Canva Sans Bold" charset="1" panose="020B0803030501040103"/>
      <p:regular r:id="rId16"/>
    </p:embeddedFont>
    <p:embeddedFont>
      <p:font typeface="Canva Sans Medium" charset="1" panose="020B0603030501040103"/>
      <p:regular r:id="rId17"/>
    </p:embeddedFont>
    <p:embeddedFont>
      <p:font typeface="Montaser Arabic" charset="1" panose="00000500000000000000"/>
      <p:regular r:id="rId18"/>
    </p:embeddedFont>
    <p:embeddedFont>
      <p:font typeface="Canva Sans" charset="1" panose="020B0503030501040103"/>
      <p:regular r:id="rId19"/>
    </p:embeddedFont>
    <p:embeddedFont>
      <p:font typeface="Canva Sans Bold Italics" charset="1" panose="020B0803030501040103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9.pn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1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1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8E2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369643" cy="10287000"/>
          </a:xfrm>
          <a:custGeom>
            <a:avLst/>
            <a:gdLst/>
            <a:ahLst/>
            <a:cxnLst/>
            <a:rect r="r" b="b" t="t" l="l"/>
            <a:pathLst>
              <a:path h="10287000" w="18369643">
                <a:moveTo>
                  <a:pt x="0" y="0"/>
                </a:moveTo>
                <a:lnTo>
                  <a:pt x="18369643" y="0"/>
                </a:lnTo>
                <a:lnTo>
                  <a:pt x="18369643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97565" y="7195826"/>
            <a:ext cx="3677460" cy="2333935"/>
            <a:chOff x="0" y="0"/>
            <a:chExt cx="1083752" cy="68781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83752" cy="687814"/>
            </a:xfrm>
            <a:custGeom>
              <a:avLst/>
              <a:gdLst/>
              <a:ahLst/>
              <a:cxnLst/>
              <a:rect r="r" b="b" t="t" l="l"/>
              <a:pathLst>
                <a:path h="687814" w="1083752">
                  <a:moveTo>
                    <a:pt x="33684" y="0"/>
                  </a:moveTo>
                  <a:lnTo>
                    <a:pt x="1050068" y="0"/>
                  </a:lnTo>
                  <a:cubicBezTo>
                    <a:pt x="1068671" y="0"/>
                    <a:pt x="1083752" y="15081"/>
                    <a:pt x="1083752" y="33684"/>
                  </a:cubicBezTo>
                  <a:lnTo>
                    <a:pt x="1083752" y="654130"/>
                  </a:lnTo>
                  <a:cubicBezTo>
                    <a:pt x="1083752" y="672733"/>
                    <a:pt x="1068671" y="687814"/>
                    <a:pt x="1050068" y="687814"/>
                  </a:cubicBezTo>
                  <a:lnTo>
                    <a:pt x="33684" y="687814"/>
                  </a:lnTo>
                  <a:cubicBezTo>
                    <a:pt x="15081" y="687814"/>
                    <a:pt x="0" y="672733"/>
                    <a:pt x="0" y="654130"/>
                  </a:cubicBezTo>
                  <a:lnTo>
                    <a:pt x="0" y="33684"/>
                  </a:lnTo>
                  <a:cubicBezTo>
                    <a:pt x="0" y="15081"/>
                    <a:pt x="15081" y="0"/>
                    <a:pt x="33684" y="0"/>
                  </a:cubicBezTo>
                  <a:close/>
                </a:path>
              </a:pathLst>
            </a:custGeom>
            <a:solidFill>
              <a:srgbClr val="82A399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66675"/>
              <a:ext cx="1083752" cy="7544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54"/>
                </a:lnSpc>
              </a:pPr>
            </a:p>
          </p:txBody>
        </p:sp>
      </p:grpSp>
      <p:pic>
        <p:nvPicPr>
          <p:cNvPr name="Picture 6" id="6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255323" y="8348789"/>
            <a:ext cx="2361943" cy="13778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2024940" y="7552850"/>
            <a:ext cx="3291978" cy="361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89"/>
              </a:lnSpc>
            </a:pPr>
            <a:r>
              <a:rPr lang="en-US" b="true" sz="2299" spc="22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Fecha del Reporte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053711" y="7959699"/>
            <a:ext cx="2439224" cy="511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60"/>
              </a:lnSpc>
            </a:pPr>
            <a:r>
              <a:rPr lang="en-US" sz="32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07</a:t>
            </a:r>
            <a:r>
              <a:rPr lang="en-US" sz="32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/11/2025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10504" y="1678474"/>
            <a:ext cx="5054763" cy="1143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60"/>
              </a:lnSpc>
              <a:spcBef>
                <a:spcPct val="0"/>
              </a:spcBef>
            </a:pPr>
            <a:r>
              <a:rPr lang="en-US" b="true" sz="3800">
                <a:solidFill>
                  <a:srgbClr val="517A7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Comer bien también es dar amor.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8E2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721742" cy="10390567"/>
          </a:xfrm>
          <a:custGeom>
            <a:avLst/>
            <a:gdLst/>
            <a:ahLst/>
            <a:cxnLst/>
            <a:rect r="r" b="b" t="t" l="l"/>
            <a:pathLst>
              <a:path h="10390567" w="18721742">
                <a:moveTo>
                  <a:pt x="0" y="0"/>
                </a:moveTo>
                <a:lnTo>
                  <a:pt x="18721742" y="0"/>
                </a:lnTo>
                <a:lnTo>
                  <a:pt x="18721742" y="10390567"/>
                </a:lnTo>
                <a:lnTo>
                  <a:pt x="0" y="103905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8E2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555510" y="4962147"/>
            <a:ext cx="7407579" cy="7407579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6747">
                <a:alpha val="72941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5119533" y="6405672"/>
            <a:ext cx="2585935" cy="3881328"/>
          </a:xfrm>
          <a:custGeom>
            <a:avLst/>
            <a:gdLst/>
            <a:ahLst/>
            <a:cxnLst/>
            <a:rect r="r" b="b" t="t" l="l"/>
            <a:pathLst>
              <a:path h="3881328" w="2585935">
                <a:moveTo>
                  <a:pt x="0" y="0"/>
                </a:moveTo>
                <a:lnTo>
                  <a:pt x="2585935" y="0"/>
                </a:lnTo>
                <a:lnTo>
                  <a:pt x="2585935" y="3881328"/>
                </a:lnTo>
                <a:lnTo>
                  <a:pt x="0" y="388132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926045" y="209550"/>
            <a:ext cx="6435910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79"/>
              </a:lnSpc>
            </a:pPr>
            <a:r>
              <a:rPr lang="en-US" sz="6399" b="true">
                <a:solidFill>
                  <a:srgbClr val="006747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AGENDA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15485" y="3043420"/>
            <a:ext cx="6435910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true">
                <a:solidFill>
                  <a:srgbClr val="006747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01 Compromiso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15485" y="4097772"/>
            <a:ext cx="6435910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true">
                <a:solidFill>
                  <a:srgbClr val="006747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02 Avances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15485" y="5155047"/>
            <a:ext cx="6435910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true">
                <a:solidFill>
                  <a:srgbClr val="006747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03 Riesgo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15485" y="7269597"/>
            <a:ext cx="10866225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true">
                <a:solidFill>
                  <a:srgbClr val="006747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05 Compromisos Próxima clase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15485" y="6212322"/>
            <a:ext cx="6435910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true">
                <a:solidFill>
                  <a:srgbClr val="006747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04 Trello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8E2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555510" y="4889016"/>
            <a:ext cx="7407579" cy="7407579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9D9DB">
                <a:alpha val="72941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330845" y="990600"/>
            <a:ext cx="12237949" cy="443626"/>
          </a:xfrm>
          <a:custGeom>
            <a:avLst/>
            <a:gdLst/>
            <a:ahLst/>
            <a:cxnLst/>
            <a:rect r="r" b="b" t="t" l="l"/>
            <a:pathLst>
              <a:path h="443626" w="12237949">
                <a:moveTo>
                  <a:pt x="0" y="0"/>
                </a:moveTo>
                <a:lnTo>
                  <a:pt x="12237949" y="0"/>
                </a:lnTo>
                <a:lnTo>
                  <a:pt x="12237949" y="443626"/>
                </a:lnTo>
                <a:lnTo>
                  <a:pt x="0" y="4436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09203" y="2384881"/>
            <a:ext cx="17869594" cy="5517237"/>
          </a:xfrm>
          <a:custGeom>
            <a:avLst/>
            <a:gdLst/>
            <a:ahLst/>
            <a:cxnLst/>
            <a:rect r="r" b="b" t="t" l="l"/>
            <a:pathLst>
              <a:path h="5517237" w="17869594">
                <a:moveTo>
                  <a:pt x="0" y="0"/>
                </a:moveTo>
                <a:lnTo>
                  <a:pt x="17869594" y="0"/>
                </a:lnTo>
                <a:lnTo>
                  <a:pt x="17869594" y="5517238"/>
                </a:lnTo>
                <a:lnTo>
                  <a:pt x="0" y="551723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30845" y="-9525"/>
            <a:ext cx="15359361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00"/>
              </a:lnSpc>
            </a:pPr>
            <a:r>
              <a:rPr lang="en-US" sz="6500">
                <a:solidFill>
                  <a:srgbClr val="006747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01 </a:t>
            </a:r>
            <a:r>
              <a:rPr lang="en-US" sz="6500">
                <a:solidFill>
                  <a:srgbClr val="006747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Compromiso sesión anterior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8E2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287675" y="1768009"/>
            <a:ext cx="13526261" cy="7946679"/>
          </a:xfrm>
          <a:custGeom>
            <a:avLst/>
            <a:gdLst/>
            <a:ahLst/>
            <a:cxnLst/>
            <a:rect r="r" b="b" t="t" l="l"/>
            <a:pathLst>
              <a:path h="7946679" w="13526261">
                <a:moveTo>
                  <a:pt x="0" y="0"/>
                </a:moveTo>
                <a:lnTo>
                  <a:pt x="13526262" y="0"/>
                </a:lnTo>
                <a:lnTo>
                  <a:pt x="13526262" y="7946679"/>
                </a:lnTo>
                <a:lnTo>
                  <a:pt x="0" y="79466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30845" y="-9525"/>
            <a:ext cx="15359361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00"/>
              </a:lnSpc>
            </a:pPr>
            <a:r>
              <a:rPr lang="en-US" sz="6500">
                <a:solidFill>
                  <a:srgbClr val="006747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02 Avances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72780" y="971550"/>
            <a:ext cx="3339009" cy="414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79"/>
              </a:lnSpc>
              <a:spcBef>
                <a:spcPct val="0"/>
              </a:spcBef>
            </a:pPr>
            <a:r>
              <a:rPr lang="en-US" sz="2599">
                <a:solidFill>
                  <a:srgbClr val="006747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Bourndown Sprint 6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0" y="18288000"/>
                </a:moveTo>
                <a:lnTo>
                  <a:pt x="0" y="0"/>
                </a:lnTo>
                <a:lnTo>
                  <a:pt x="10287000" y="0"/>
                </a:lnTo>
                <a:lnTo>
                  <a:pt x="10287000" y="18288000"/>
                </a:lnTo>
                <a:lnTo>
                  <a:pt x="0" y="18288000"/>
                </a:lnTo>
                <a:close/>
              </a:path>
            </a:pathLst>
          </a:custGeom>
          <a:blipFill>
            <a:blip r:embed="rId2"/>
            <a:stretch>
              <a:fillRect l="-12888" t="0" r="-12888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24696" y="3508244"/>
            <a:ext cx="1810086" cy="872615"/>
            <a:chOff x="0" y="0"/>
            <a:chExt cx="533435" cy="25716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33435" cy="257161"/>
            </a:xfrm>
            <a:custGeom>
              <a:avLst/>
              <a:gdLst/>
              <a:ahLst/>
              <a:cxnLst/>
              <a:rect r="r" b="b" t="t" l="l"/>
              <a:pathLst>
                <a:path h="257161" w="533435">
                  <a:moveTo>
                    <a:pt x="68434" y="0"/>
                  </a:moveTo>
                  <a:lnTo>
                    <a:pt x="465001" y="0"/>
                  </a:lnTo>
                  <a:cubicBezTo>
                    <a:pt x="483151" y="0"/>
                    <a:pt x="500557" y="7210"/>
                    <a:pt x="513391" y="20044"/>
                  </a:cubicBezTo>
                  <a:cubicBezTo>
                    <a:pt x="526225" y="32878"/>
                    <a:pt x="533435" y="50284"/>
                    <a:pt x="533435" y="68434"/>
                  </a:cubicBezTo>
                  <a:lnTo>
                    <a:pt x="533435" y="188727"/>
                  </a:lnTo>
                  <a:cubicBezTo>
                    <a:pt x="533435" y="206877"/>
                    <a:pt x="526225" y="224283"/>
                    <a:pt x="513391" y="237117"/>
                  </a:cubicBezTo>
                  <a:cubicBezTo>
                    <a:pt x="500557" y="249951"/>
                    <a:pt x="483151" y="257161"/>
                    <a:pt x="465001" y="257161"/>
                  </a:cubicBezTo>
                  <a:lnTo>
                    <a:pt x="68434" y="257161"/>
                  </a:lnTo>
                  <a:cubicBezTo>
                    <a:pt x="50284" y="257161"/>
                    <a:pt x="32878" y="249951"/>
                    <a:pt x="20044" y="237117"/>
                  </a:cubicBezTo>
                  <a:cubicBezTo>
                    <a:pt x="7210" y="224283"/>
                    <a:pt x="0" y="206877"/>
                    <a:pt x="0" y="188727"/>
                  </a:cubicBezTo>
                  <a:lnTo>
                    <a:pt x="0" y="68434"/>
                  </a:lnTo>
                  <a:cubicBezTo>
                    <a:pt x="0" y="50284"/>
                    <a:pt x="7210" y="32878"/>
                    <a:pt x="20044" y="20044"/>
                  </a:cubicBezTo>
                  <a:cubicBezTo>
                    <a:pt x="32878" y="7210"/>
                    <a:pt x="50284" y="0"/>
                    <a:pt x="68434" y="0"/>
                  </a:cubicBezTo>
                  <a:close/>
                </a:path>
              </a:pathLst>
            </a:custGeom>
            <a:solidFill>
              <a:srgbClr val="FF3131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66675"/>
              <a:ext cx="533435" cy="3238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54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476842" y="7736237"/>
            <a:ext cx="3715880" cy="2258906"/>
            <a:chOff x="0" y="0"/>
            <a:chExt cx="1095075" cy="66570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95075" cy="665702"/>
            </a:xfrm>
            <a:custGeom>
              <a:avLst/>
              <a:gdLst/>
              <a:ahLst/>
              <a:cxnLst/>
              <a:rect r="r" b="b" t="t" l="l"/>
              <a:pathLst>
                <a:path h="665702" w="1095075">
                  <a:moveTo>
                    <a:pt x="33335" y="0"/>
                  </a:moveTo>
                  <a:lnTo>
                    <a:pt x="1061739" y="0"/>
                  </a:lnTo>
                  <a:cubicBezTo>
                    <a:pt x="1070580" y="0"/>
                    <a:pt x="1079059" y="3512"/>
                    <a:pt x="1085311" y="9764"/>
                  </a:cubicBezTo>
                  <a:cubicBezTo>
                    <a:pt x="1091563" y="16015"/>
                    <a:pt x="1095075" y="24494"/>
                    <a:pt x="1095075" y="33335"/>
                  </a:cubicBezTo>
                  <a:lnTo>
                    <a:pt x="1095075" y="632367"/>
                  </a:lnTo>
                  <a:cubicBezTo>
                    <a:pt x="1095075" y="641208"/>
                    <a:pt x="1091563" y="649687"/>
                    <a:pt x="1085311" y="655939"/>
                  </a:cubicBezTo>
                  <a:cubicBezTo>
                    <a:pt x="1079059" y="662190"/>
                    <a:pt x="1070580" y="665702"/>
                    <a:pt x="1061739" y="665702"/>
                  </a:cubicBezTo>
                  <a:lnTo>
                    <a:pt x="33335" y="665702"/>
                  </a:lnTo>
                  <a:cubicBezTo>
                    <a:pt x="14925" y="665702"/>
                    <a:pt x="0" y="650778"/>
                    <a:pt x="0" y="632367"/>
                  </a:cubicBezTo>
                  <a:lnTo>
                    <a:pt x="0" y="33335"/>
                  </a:lnTo>
                  <a:cubicBezTo>
                    <a:pt x="0" y="24494"/>
                    <a:pt x="3512" y="16015"/>
                    <a:pt x="9764" y="9764"/>
                  </a:cubicBezTo>
                  <a:cubicBezTo>
                    <a:pt x="16015" y="3512"/>
                    <a:pt x="24494" y="0"/>
                    <a:pt x="33335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66675"/>
              <a:ext cx="1095075" cy="7323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54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524696" y="1002035"/>
            <a:ext cx="3677460" cy="2333935"/>
            <a:chOff x="0" y="0"/>
            <a:chExt cx="1083752" cy="68781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83752" cy="687814"/>
            </a:xfrm>
            <a:custGeom>
              <a:avLst/>
              <a:gdLst/>
              <a:ahLst/>
              <a:cxnLst/>
              <a:rect r="r" b="b" t="t" l="l"/>
              <a:pathLst>
                <a:path h="687814" w="1083752">
                  <a:moveTo>
                    <a:pt x="33684" y="0"/>
                  </a:moveTo>
                  <a:lnTo>
                    <a:pt x="1050068" y="0"/>
                  </a:lnTo>
                  <a:cubicBezTo>
                    <a:pt x="1068671" y="0"/>
                    <a:pt x="1083752" y="15081"/>
                    <a:pt x="1083752" y="33684"/>
                  </a:cubicBezTo>
                  <a:lnTo>
                    <a:pt x="1083752" y="654130"/>
                  </a:lnTo>
                  <a:cubicBezTo>
                    <a:pt x="1083752" y="672733"/>
                    <a:pt x="1068671" y="687814"/>
                    <a:pt x="1050068" y="687814"/>
                  </a:cubicBezTo>
                  <a:lnTo>
                    <a:pt x="33684" y="687814"/>
                  </a:lnTo>
                  <a:cubicBezTo>
                    <a:pt x="15081" y="687814"/>
                    <a:pt x="0" y="672733"/>
                    <a:pt x="0" y="654130"/>
                  </a:cubicBezTo>
                  <a:lnTo>
                    <a:pt x="0" y="33684"/>
                  </a:lnTo>
                  <a:cubicBezTo>
                    <a:pt x="0" y="15081"/>
                    <a:pt x="15081" y="0"/>
                    <a:pt x="33684" y="0"/>
                  </a:cubicBezTo>
                  <a:close/>
                </a:path>
              </a:pathLst>
            </a:custGeom>
            <a:solidFill>
              <a:srgbClr val="FF3131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66675"/>
              <a:ext cx="1083752" cy="7544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54"/>
                </a:lnSpc>
              </a:pPr>
            </a:p>
          </p:txBody>
        </p:sp>
      </p:grpSp>
      <p:pic>
        <p:nvPicPr>
          <p:cNvPr name="Picture 12" id="12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313991" y="2048373"/>
            <a:ext cx="2361943" cy="1377800"/>
          </a:xfrm>
          <a:prstGeom prst="rect">
            <a:avLst/>
          </a:prstGeom>
        </p:spPr>
      </p:pic>
      <p:grpSp>
        <p:nvGrpSpPr>
          <p:cNvPr name="Group 13" id="13"/>
          <p:cNvGrpSpPr/>
          <p:nvPr/>
        </p:nvGrpSpPr>
        <p:grpSpPr>
          <a:xfrm rot="0">
            <a:off x="2397272" y="3496242"/>
            <a:ext cx="1810086" cy="872615"/>
            <a:chOff x="0" y="0"/>
            <a:chExt cx="533435" cy="25716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33435" cy="257161"/>
            </a:xfrm>
            <a:custGeom>
              <a:avLst/>
              <a:gdLst/>
              <a:ahLst/>
              <a:cxnLst/>
              <a:rect r="r" b="b" t="t" l="l"/>
              <a:pathLst>
                <a:path h="257161" w="533435">
                  <a:moveTo>
                    <a:pt x="68434" y="0"/>
                  </a:moveTo>
                  <a:lnTo>
                    <a:pt x="465001" y="0"/>
                  </a:lnTo>
                  <a:cubicBezTo>
                    <a:pt x="483151" y="0"/>
                    <a:pt x="500557" y="7210"/>
                    <a:pt x="513391" y="20044"/>
                  </a:cubicBezTo>
                  <a:cubicBezTo>
                    <a:pt x="526225" y="32878"/>
                    <a:pt x="533435" y="50284"/>
                    <a:pt x="533435" y="68434"/>
                  </a:cubicBezTo>
                  <a:lnTo>
                    <a:pt x="533435" y="188727"/>
                  </a:lnTo>
                  <a:cubicBezTo>
                    <a:pt x="533435" y="206877"/>
                    <a:pt x="526225" y="224283"/>
                    <a:pt x="513391" y="237117"/>
                  </a:cubicBezTo>
                  <a:cubicBezTo>
                    <a:pt x="500557" y="249951"/>
                    <a:pt x="483151" y="257161"/>
                    <a:pt x="465001" y="257161"/>
                  </a:cubicBezTo>
                  <a:lnTo>
                    <a:pt x="68434" y="257161"/>
                  </a:lnTo>
                  <a:cubicBezTo>
                    <a:pt x="50284" y="257161"/>
                    <a:pt x="32878" y="249951"/>
                    <a:pt x="20044" y="237117"/>
                  </a:cubicBezTo>
                  <a:cubicBezTo>
                    <a:pt x="7210" y="224283"/>
                    <a:pt x="0" y="206877"/>
                    <a:pt x="0" y="188727"/>
                  </a:cubicBezTo>
                  <a:lnTo>
                    <a:pt x="0" y="68434"/>
                  </a:lnTo>
                  <a:cubicBezTo>
                    <a:pt x="0" y="50284"/>
                    <a:pt x="7210" y="32878"/>
                    <a:pt x="20044" y="20044"/>
                  </a:cubicBezTo>
                  <a:cubicBezTo>
                    <a:pt x="32878" y="7210"/>
                    <a:pt x="50284" y="0"/>
                    <a:pt x="68434" y="0"/>
                  </a:cubicBezTo>
                  <a:close/>
                </a:path>
              </a:pathLst>
            </a:custGeom>
            <a:solidFill>
              <a:srgbClr val="65A6FA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66675"/>
              <a:ext cx="533435" cy="3238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54"/>
                </a:lnSpc>
              </a:pPr>
              <a:r>
                <a:rPr lang="en-US" sz="2099" spc="2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31/10/2025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527179" y="4469062"/>
            <a:ext cx="1810086" cy="872615"/>
            <a:chOff x="0" y="0"/>
            <a:chExt cx="533435" cy="25716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33435" cy="257161"/>
            </a:xfrm>
            <a:custGeom>
              <a:avLst/>
              <a:gdLst/>
              <a:ahLst/>
              <a:cxnLst/>
              <a:rect r="r" b="b" t="t" l="l"/>
              <a:pathLst>
                <a:path h="257161" w="533435">
                  <a:moveTo>
                    <a:pt x="68434" y="0"/>
                  </a:moveTo>
                  <a:lnTo>
                    <a:pt x="465001" y="0"/>
                  </a:lnTo>
                  <a:cubicBezTo>
                    <a:pt x="483151" y="0"/>
                    <a:pt x="500557" y="7210"/>
                    <a:pt x="513391" y="20044"/>
                  </a:cubicBezTo>
                  <a:cubicBezTo>
                    <a:pt x="526225" y="32878"/>
                    <a:pt x="533435" y="50284"/>
                    <a:pt x="533435" y="68434"/>
                  </a:cubicBezTo>
                  <a:lnTo>
                    <a:pt x="533435" y="188727"/>
                  </a:lnTo>
                  <a:cubicBezTo>
                    <a:pt x="533435" y="206877"/>
                    <a:pt x="526225" y="224283"/>
                    <a:pt x="513391" y="237117"/>
                  </a:cubicBezTo>
                  <a:cubicBezTo>
                    <a:pt x="500557" y="249951"/>
                    <a:pt x="483151" y="257161"/>
                    <a:pt x="465001" y="257161"/>
                  </a:cubicBezTo>
                  <a:lnTo>
                    <a:pt x="68434" y="257161"/>
                  </a:lnTo>
                  <a:cubicBezTo>
                    <a:pt x="50284" y="257161"/>
                    <a:pt x="32878" y="249951"/>
                    <a:pt x="20044" y="237117"/>
                  </a:cubicBezTo>
                  <a:cubicBezTo>
                    <a:pt x="7210" y="224283"/>
                    <a:pt x="0" y="206877"/>
                    <a:pt x="0" y="188727"/>
                  </a:cubicBezTo>
                  <a:lnTo>
                    <a:pt x="0" y="68434"/>
                  </a:lnTo>
                  <a:cubicBezTo>
                    <a:pt x="0" y="50284"/>
                    <a:pt x="7210" y="32878"/>
                    <a:pt x="20044" y="20044"/>
                  </a:cubicBezTo>
                  <a:cubicBezTo>
                    <a:pt x="32878" y="7210"/>
                    <a:pt x="50284" y="0"/>
                    <a:pt x="68434" y="0"/>
                  </a:cubicBezTo>
                  <a:close/>
                </a:path>
              </a:pathLst>
            </a:custGeom>
            <a:solidFill>
              <a:srgbClr val="FF3131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66675"/>
              <a:ext cx="533435" cy="3238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54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2399755" y="4457060"/>
            <a:ext cx="1810086" cy="872615"/>
            <a:chOff x="0" y="0"/>
            <a:chExt cx="533435" cy="25716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33435" cy="257161"/>
            </a:xfrm>
            <a:custGeom>
              <a:avLst/>
              <a:gdLst/>
              <a:ahLst/>
              <a:cxnLst/>
              <a:rect r="r" b="b" t="t" l="l"/>
              <a:pathLst>
                <a:path h="257161" w="533435">
                  <a:moveTo>
                    <a:pt x="68434" y="0"/>
                  </a:moveTo>
                  <a:lnTo>
                    <a:pt x="465001" y="0"/>
                  </a:lnTo>
                  <a:cubicBezTo>
                    <a:pt x="483151" y="0"/>
                    <a:pt x="500557" y="7210"/>
                    <a:pt x="513391" y="20044"/>
                  </a:cubicBezTo>
                  <a:cubicBezTo>
                    <a:pt x="526225" y="32878"/>
                    <a:pt x="533435" y="50284"/>
                    <a:pt x="533435" y="68434"/>
                  </a:cubicBezTo>
                  <a:lnTo>
                    <a:pt x="533435" y="188727"/>
                  </a:lnTo>
                  <a:cubicBezTo>
                    <a:pt x="533435" y="206877"/>
                    <a:pt x="526225" y="224283"/>
                    <a:pt x="513391" y="237117"/>
                  </a:cubicBezTo>
                  <a:cubicBezTo>
                    <a:pt x="500557" y="249951"/>
                    <a:pt x="483151" y="257161"/>
                    <a:pt x="465001" y="257161"/>
                  </a:cubicBezTo>
                  <a:lnTo>
                    <a:pt x="68434" y="257161"/>
                  </a:lnTo>
                  <a:cubicBezTo>
                    <a:pt x="50284" y="257161"/>
                    <a:pt x="32878" y="249951"/>
                    <a:pt x="20044" y="237117"/>
                  </a:cubicBezTo>
                  <a:cubicBezTo>
                    <a:pt x="7210" y="224283"/>
                    <a:pt x="0" y="206877"/>
                    <a:pt x="0" y="188727"/>
                  </a:cubicBezTo>
                  <a:lnTo>
                    <a:pt x="0" y="68434"/>
                  </a:lnTo>
                  <a:cubicBezTo>
                    <a:pt x="0" y="50284"/>
                    <a:pt x="7210" y="32878"/>
                    <a:pt x="20044" y="20044"/>
                  </a:cubicBezTo>
                  <a:cubicBezTo>
                    <a:pt x="32878" y="7210"/>
                    <a:pt x="50284" y="0"/>
                    <a:pt x="68434" y="0"/>
                  </a:cubicBezTo>
                  <a:close/>
                </a:path>
              </a:pathLst>
            </a:custGeom>
            <a:solidFill>
              <a:srgbClr val="65A6FA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66675"/>
              <a:ext cx="533435" cy="3238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54"/>
                </a:lnSpc>
              </a:pPr>
              <a:r>
                <a:rPr lang="en-US" sz="2099" spc="2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07/11/2025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476842" y="6069981"/>
            <a:ext cx="3677460" cy="1523380"/>
            <a:chOff x="0" y="0"/>
            <a:chExt cx="1083752" cy="44894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83752" cy="448942"/>
            </a:xfrm>
            <a:custGeom>
              <a:avLst/>
              <a:gdLst/>
              <a:ahLst/>
              <a:cxnLst/>
              <a:rect r="r" b="b" t="t" l="l"/>
              <a:pathLst>
                <a:path h="448942" w="1083752">
                  <a:moveTo>
                    <a:pt x="33684" y="0"/>
                  </a:moveTo>
                  <a:lnTo>
                    <a:pt x="1050068" y="0"/>
                  </a:lnTo>
                  <a:cubicBezTo>
                    <a:pt x="1068671" y="0"/>
                    <a:pt x="1083752" y="15081"/>
                    <a:pt x="1083752" y="33684"/>
                  </a:cubicBezTo>
                  <a:lnTo>
                    <a:pt x="1083752" y="415258"/>
                  </a:lnTo>
                  <a:cubicBezTo>
                    <a:pt x="1083752" y="433861"/>
                    <a:pt x="1068671" y="448942"/>
                    <a:pt x="1050068" y="448942"/>
                  </a:cubicBezTo>
                  <a:lnTo>
                    <a:pt x="33684" y="448942"/>
                  </a:lnTo>
                  <a:cubicBezTo>
                    <a:pt x="15081" y="448942"/>
                    <a:pt x="0" y="433861"/>
                    <a:pt x="0" y="415258"/>
                  </a:cubicBezTo>
                  <a:lnTo>
                    <a:pt x="0" y="33684"/>
                  </a:lnTo>
                  <a:cubicBezTo>
                    <a:pt x="0" y="15081"/>
                    <a:pt x="15081" y="0"/>
                    <a:pt x="33684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66675"/>
              <a:ext cx="1083752" cy="5156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54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4694220" y="7558243"/>
            <a:ext cx="6701800" cy="2478460"/>
            <a:chOff x="0" y="0"/>
            <a:chExt cx="1975029" cy="730405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975029" cy="730406"/>
            </a:xfrm>
            <a:custGeom>
              <a:avLst/>
              <a:gdLst/>
              <a:ahLst/>
              <a:cxnLst/>
              <a:rect r="r" b="b" t="t" l="l"/>
              <a:pathLst>
                <a:path h="730406" w="1975029">
                  <a:moveTo>
                    <a:pt x="18483" y="0"/>
                  </a:moveTo>
                  <a:lnTo>
                    <a:pt x="1956546" y="0"/>
                  </a:lnTo>
                  <a:cubicBezTo>
                    <a:pt x="1961448" y="0"/>
                    <a:pt x="1966149" y="1947"/>
                    <a:pt x="1969615" y="5414"/>
                  </a:cubicBezTo>
                  <a:cubicBezTo>
                    <a:pt x="1973082" y="8880"/>
                    <a:pt x="1975029" y="13581"/>
                    <a:pt x="1975029" y="18483"/>
                  </a:cubicBezTo>
                  <a:lnTo>
                    <a:pt x="1975029" y="711922"/>
                  </a:lnTo>
                  <a:cubicBezTo>
                    <a:pt x="1975029" y="716824"/>
                    <a:pt x="1973082" y="721526"/>
                    <a:pt x="1969615" y="724992"/>
                  </a:cubicBezTo>
                  <a:cubicBezTo>
                    <a:pt x="1966149" y="728458"/>
                    <a:pt x="1961448" y="730406"/>
                    <a:pt x="1956546" y="730406"/>
                  </a:cubicBezTo>
                  <a:lnTo>
                    <a:pt x="18483" y="730406"/>
                  </a:lnTo>
                  <a:cubicBezTo>
                    <a:pt x="13581" y="730406"/>
                    <a:pt x="8880" y="728458"/>
                    <a:pt x="5414" y="724992"/>
                  </a:cubicBezTo>
                  <a:cubicBezTo>
                    <a:pt x="1947" y="721526"/>
                    <a:pt x="0" y="716824"/>
                    <a:pt x="0" y="711922"/>
                  </a:cubicBezTo>
                  <a:lnTo>
                    <a:pt x="0" y="18483"/>
                  </a:lnTo>
                  <a:cubicBezTo>
                    <a:pt x="0" y="13581"/>
                    <a:pt x="1947" y="8880"/>
                    <a:pt x="5414" y="5414"/>
                  </a:cubicBezTo>
                  <a:cubicBezTo>
                    <a:pt x="8880" y="1947"/>
                    <a:pt x="13581" y="0"/>
                    <a:pt x="18483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66675"/>
              <a:ext cx="1975029" cy="7970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54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2052758" y="7522441"/>
            <a:ext cx="6235242" cy="2436899"/>
            <a:chOff x="0" y="0"/>
            <a:chExt cx="1837534" cy="718157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837534" cy="718157"/>
            </a:xfrm>
            <a:custGeom>
              <a:avLst/>
              <a:gdLst/>
              <a:ahLst/>
              <a:cxnLst/>
              <a:rect r="r" b="b" t="t" l="l"/>
              <a:pathLst>
                <a:path h="718157" w="1837534">
                  <a:moveTo>
                    <a:pt x="19866" y="0"/>
                  </a:moveTo>
                  <a:lnTo>
                    <a:pt x="1817668" y="0"/>
                  </a:lnTo>
                  <a:cubicBezTo>
                    <a:pt x="1828639" y="0"/>
                    <a:pt x="1837534" y="8894"/>
                    <a:pt x="1837534" y="19866"/>
                  </a:cubicBezTo>
                  <a:lnTo>
                    <a:pt x="1837534" y="698291"/>
                  </a:lnTo>
                  <a:cubicBezTo>
                    <a:pt x="1837534" y="703560"/>
                    <a:pt x="1835441" y="708613"/>
                    <a:pt x="1831715" y="712339"/>
                  </a:cubicBezTo>
                  <a:cubicBezTo>
                    <a:pt x="1827989" y="716064"/>
                    <a:pt x="1822936" y="718157"/>
                    <a:pt x="1817668" y="718157"/>
                  </a:cubicBezTo>
                  <a:lnTo>
                    <a:pt x="19866" y="718157"/>
                  </a:lnTo>
                  <a:cubicBezTo>
                    <a:pt x="14597" y="718157"/>
                    <a:pt x="9544" y="716064"/>
                    <a:pt x="5819" y="712339"/>
                  </a:cubicBezTo>
                  <a:cubicBezTo>
                    <a:pt x="2093" y="708613"/>
                    <a:pt x="0" y="703560"/>
                    <a:pt x="0" y="698291"/>
                  </a:cubicBezTo>
                  <a:lnTo>
                    <a:pt x="0" y="19866"/>
                  </a:lnTo>
                  <a:cubicBezTo>
                    <a:pt x="0" y="14597"/>
                    <a:pt x="2093" y="9544"/>
                    <a:pt x="5819" y="5819"/>
                  </a:cubicBezTo>
                  <a:cubicBezTo>
                    <a:pt x="9544" y="2093"/>
                    <a:pt x="14597" y="0"/>
                    <a:pt x="19866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66675"/>
              <a:ext cx="1837534" cy="7848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54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2194807" y="8224439"/>
            <a:ext cx="846222" cy="827352"/>
            <a:chOff x="0" y="0"/>
            <a:chExt cx="249383" cy="243822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49383" cy="243822"/>
            </a:xfrm>
            <a:custGeom>
              <a:avLst/>
              <a:gdLst/>
              <a:ahLst/>
              <a:cxnLst/>
              <a:rect r="r" b="b" t="t" l="l"/>
              <a:pathLst>
                <a:path h="243822" w="249383">
                  <a:moveTo>
                    <a:pt x="121911" y="0"/>
                  </a:moveTo>
                  <a:lnTo>
                    <a:pt x="127472" y="0"/>
                  </a:lnTo>
                  <a:cubicBezTo>
                    <a:pt x="159805" y="0"/>
                    <a:pt x="190813" y="12844"/>
                    <a:pt x="213676" y="35707"/>
                  </a:cubicBezTo>
                  <a:cubicBezTo>
                    <a:pt x="236538" y="58570"/>
                    <a:pt x="249383" y="89578"/>
                    <a:pt x="249383" y="121911"/>
                  </a:cubicBezTo>
                  <a:lnTo>
                    <a:pt x="249383" y="121911"/>
                  </a:lnTo>
                  <a:cubicBezTo>
                    <a:pt x="249383" y="189240"/>
                    <a:pt x="194801" y="243822"/>
                    <a:pt x="127472" y="243822"/>
                  </a:cubicBezTo>
                  <a:lnTo>
                    <a:pt x="121911" y="243822"/>
                  </a:lnTo>
                  <a:cubicBezTo>
                    <a:pt x="54581" y="243822"/>
                    <a:pt x="0" y="189240"/>
                    <a:pt x="0" y="121911"/>
                  </a:cubicBezTo>
                  <a:lnTo>
                    <a:pt x="0" y="121911"/>
                  </a:lnTo>
                  <a:cubicBezTo>
                    <a:pt x="0" y="54581"/>
                    <a:pt x="54581" y="0"/>
                    <a:pt x="121911" y="0"/>
                  </a:cubicBezTo>
                  <a:close/>
                </a:path>
              </a:pathLst>
            </a:custGeom>
            <a:solidFill>
              <a:srgbClr val="006747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66675"/>
              <a:ext cx="249383" cy="3104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54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2735880" y="7114874"/>
            <a:ext cx="355135" cy="355135"/>
            <a:chOff x="0" y="0"/>
            <a:chExt cx="812800" cy="8128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6747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10"/>
                </a:lnSpc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3166537" y="9482830"/>
            <a:ext cx="355135" cy="355135"/>
            <a:chOff x="0" y="0"/>
            <a:chExt cx="812800" cy="8128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6747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10"/>
                </a:lnSpc>
              </a:pPr>
            </a:p>
          </p:txBody>
        </p:sp>
      </p:grpSp>
      <p:sp>
        <p:nvSpPr>
          <p:cNvPr name="Freeform 40" id="40"/>
          <p:cNvSpPr/>
          <p:nvPr/>
        </p:nvSpPr>
        <p:spPr>
          <a:xfrm flipH="false" flipV="false" rot="0">
            <a:off x="5968626" y="1180007"/>
            <a:ext cx="8438342" cy="6103461"/>
          </a:xfrm>
          <a:custGeom>
            <a:avLst/>
            <a:gdLst/>
            <a:ahLst/>
            <a:cxnLst/>
            <a:rect r="r" b="b" t="t" l="l"/>
            <a:pathLst>
              <a:path h="6103461" w="8438342">
                <a:moveTo>
                  <a:pt x="0" y="0"/>
                </a:moveTo>
                <a:lnTo>
                  <a:pt x="8438342" y="0"/>
                </a:lnTo>
                <a:lnTo>
                  <a:pt x="8438342" y="6103462"/>
                </a:lnTo>
                <a:lnTo>
                  <a:pt x="0" y="610346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1" id="41"/>
          <p:cNvSpPr txBox="true"/>
          <p:nvPr/>
        </p:nvSpPr>
        <p:spPr>
          <a:xfrm rot="0">
            <a:off x="796268" y="3648070"/>
            <a:ext cx="1462994" cy="549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10"/>
              </a:lnSpc>
            </a:pPr>
            <a:r>
              <a:rPr lang="en-US" b="true" sz="1700" spc="17">
                <a:solidFill>
                  <a:srgbClr val="DFE7F1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Fecha de Inicio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6168075" y="-81598"/>
            <a:ext cx="6435910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5400" b="true">
                <a:solidFill>
                  <a:srgbClr val="006747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Resumen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756398" y="6137317"/>
            <a:ext cx="2178667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10"/>
              </a:lnSpc>
            </a:pPr>
            <a:r>
              <a:rPr lang="en-US" sz="1700" spc="17" b="true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Avance Real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2729597" y="6108081"/>
            <a:ext cx="962196" cy="327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0"/>
              </a:lnSpc>
            </a:pPr>
            <a:r>
              <a:rPr lang="en-US" sz="2000" b="true">
                <a:solidFill>
                  <a:srgbClr val="FF3131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84%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083608" y="1252434"/>
            <a:ext cx="3291978" cy="361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89"/>
              </a:lnSpc>
            </a:pPr>
            <a:r>
              <a:rPr lang="en-US" b="true" sz="2299" spc="22">
                <a:solidFill>
                  <a:srgbClr val="EDEDE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Fecha del Reporte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112379" y="1659283"/>
            <a:ext cx="2439224" cy="511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60"/>
              </a:lnSpc>
            </a:pPr>
            <a:r>
              <a:rPr lang="en-US" sz="3200" b="true">
                <a:solidFill>
                  <a:srgbClr val="EDEDE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07</a:t>
            </a:r>
            <a:r>
              <a:rPr lang="en-US" sz="3200" b="true">
                <a:solidFill>
                  <a:srgbClr val="EDEDE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/11/2025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982598" y="4608887"/>
            <a:ext cx="1384144" cy="549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10"/>
              </a:lnSpc>
            </a:pPr>
            <a:r>
              <a:rPr lang="en-US" b="true" sz="1700" spc="17">
                <a:solidFill>
                  <a:srgbClr val="DFE7F1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Fecha de </a:t>
            </a:r>
          </a:p>
          <a:p>
            <a:pPr algn="l">
              <a:lnSpc>
                <a:spcPts val="2210"/>
              </a:lnSpc>
            </a:pPr>
            <a:r>
              <a:rPr lang="en-US" b="true" sz="1700" spc="17">
                <a:solidFill>
                  <a:srgbClr val="DFE7F1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Fin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770476" y="6477677"/>
            <a:ext cx="2359377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10"/>
              </a:lnSpc>
            </a:pPr>
            <a:r>
              <a:rPr lang="en-US" sz="1700" spc="17" b="true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Avance Esperado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2729597" y="6448441"/>
            <a:ext cx="962196" cy="327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0"/>
              </a:lnSpc>
            </a:pPr>
            <a:r>
              <a:rPr lang="en-US" sz="2000" b="true">
                <a:solidFill>
                  <a:srgbClr val="FF3131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78%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756398" y="6790706"/>
            <a:ext cx="1193766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10"/>
              </a:lnSpc>
            </a:pPr>
            <a:r>
              <a:rPr lang="en-US" sz="1700" spc="17" b="true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Desviacion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2804629" y="6768799"/>
            <a:ext cx="693438" cy="327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0"/>
              </a:lnSpc>
            </a:pPr>
            <a:r>
              <a:rPr lang="en-US" sz="2000" b="true">
                <a:solidFill>
                  <a:srgbClr val="FF3131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6%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556224" y="5545471"/>
            <a:ext cx="2787880" cy="353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9"/>
              </a:lnSpc>
            </a:pPr>
            <a:r>
              <a:rPr lang="en-US" b="true" sz="2199" i="true" spc="21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ESTADO  ANTERIOR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863357" y="8239241"/>
            <a:ext cx="3110245" cy="299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69"/>
              </a:lnSpc>
            </a:pPr>
            <a:r>
              <a:rPr lang="en-US" sz="1899" spc="18" b="true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Avance Real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3049422" y="8197398"/>
            <a:ext cx="1238190" cy="450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799" b="true">
                <a:solidFill>
                  <a:srgbClr val="FF3131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93%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851903" y="8638088"/>
            <a:ext cx="2755793" cy="299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69"/>
              </a:lnSpc>
            </a:pPr>
            <a:r>
              <a:rPr lang="en-US" sz="1899" spc="18" b="true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Avance Esperado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3071353" y="8601575"/>
            <a:ext cx="1238190" cy="450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799" b="true">
                <a:solidFill>
                  <a:srgbClr val="FF3131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83%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851903" y="9032740"/>
            <a:ext cx="2627914" cy="299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69"/>
              </a:lnSpc>
            </a:pPr>
            <a:r>
              <a:rPr lang="en-US" sz="1899" spc="18" b="true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Desviacion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3091015" y="8994515"/>
            <a:ext cx="1101707" cy="450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799" b="true">
                <a:solidFill>
                  <a:srgbClr val="FF3131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+10%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524696" y="7762230"/>
            <a:ext cx="2787880" cy="353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9"/>
              </a:lnSpc>
            </a:pPr>
            <a:r>
              <a:rPr lang="en-US" b="true" sz="2199" i="true" spc="21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ESTADO  ACTUAL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754049" y="7146306"/>
            <a:ext cx="1097410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10"/>
              </a:lnSpc>
            </a:pPr>
            <a:r>
              <a:rPr lang="en-US" sz="1700" spc="17" b="true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Estado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4959140" y="7753895"/>
            <a:ext cx="2787880" cy="353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9"/>
              </a:lnSpc>
            </a:pPr>
            <a:r>
              <a:rPr lang="en-US" b="true" sz="2199" i="true" spc="21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Logros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2603985" y="7586890"/>
            <a:ext cx="3605967" cy="353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9"/>
              </a:lnSpc>
            </a:pPr>
            <a:r>
              <a:rPr lang="en-US" b="true" sz="2199" i="true" spc="21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Explicación del Desvió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2271833" y="8379576"/>
            <a:ext cx="915831" cy="361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89"/>
              </a:lnSpc>
            </a:pPr>
            <a:r>
              <a:rPr lang="en-US" sz="2299" b="true">
                <a:solidFill>
                  <a:srgbClr val="FFFFFF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+10%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3385873" y="8087905"/>
            <a:ext cx="4446523" cy="1217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1400" spc="14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La desviación es positiva se ha logrado completar 8 tareas por lo tanto estamos  por sobre la curva.</a:t>
            </a:r>
          </a:p>
          <a:p>
            <a:pPr algn="l">
              <a:lnSpc>
                <a:spcPts val="1820"/>
              </a:lnSpc>
            </a:pPr>
            <a:r>
              <a:rPr lang="en-US" sz="1400" spc="14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esto se completo ya que se logro completar las metricas basicas</a:t>
            </a:r>
          </a:p>
          <a:p>
            <a:pPr algn="l">
              <a:lnSpc>
                <a:spcPts val="2469"/>
              </a:lnSpc>
            </a:pPr>
          </a:p>
        </p:txBody>
      </p:sp>
      <p:sp>
        <p:nvSpPr>
          <p:cNvPr name="TextBox 65" id="65"/>
          <p:cNvSpPr txBox="true"/>
          <p:nvPr/>
        </p:nvSpPr>
        <p:spPr>
          <a:xfrm rot="0">
            <a:off x="4959140" y="8131550"/>
            <a:ext cx="5888620" cy="1463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800" spc="18" b="true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Se implementaron y validaron indicadores clave relacionados con la actividad y comportamiento de los usuarios, incluyendo registros mensuales, comunas con mayor presencia, niveles de actividad y distribución por especie.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863357" y="9435205"/>
            <a:ext cx="982375" cy="299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69"/>
              </a:lnSpc>
            </a:pPr>
            <a:r>
              <a:rPr lang="en-US" sz="1899" spc="18" b="true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Estado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0" y="18288000"/>
                </a:moveTo>
                <a:lnTo>
                  <a:pt x="0" y="0"/>
                </a:lnTo>
                <a:lnTo>
                  <a:pt x="10287000" y="0"/>
                </a:lnTo>
                <a:lnTo>
                  <a:pt x="10287000" y="18288000"/>
                </a:lnTo>
                <a:lnTo>
                  <a:pt x="0" y="18288000"/>
                </a:lnTo>
                <a:close/>
              </a:path>
            </a:pathLst>
          </a:custGeom>
          <a:blipFill>
            <a:blip r:embed="rId2"/>
            <a:stretch>
              <a:fillRect l="-12888" t="0" r="-12888" b="0"/>
            </a:stretch>
          </a:blipFill>
        </p:spPr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428238" y="857250"/>
          <a:ext cx="17123195" cy="5705475"/>
        </p:xfrm>
        <a:graphic>
          <a:graphicData uri="http://schemas.openxmlformats.org/drawingml/2006/table">
            <a:tbl>
              <a:tblPr/>
              <a:tblGrid>
                <a:gridCol w="1187796"/>
                <a:gridCol w="3952516"/>
                <a:gridCol w="1207832"/>
                <a:gridCol w="3658889"/>
                <a:gridCol w="2017098"/>
                <a:gridCol w="1520729"/>
                <a:gridCol w="1986819"/>
                <a:gridCol w="1591516"/>
              </a:tblGrid>
              <a:tr h="1352054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ID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13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RIESGO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13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Nivel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13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PLAN DE MITIGACION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13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RESPONSABLE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13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TIPO DE IMPACTO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13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PLAZO DE IMPLENTACION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13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ESTADO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131"/>
                    </a:solidFill>
                  </a:tcPr>
                </a:tc>
              </a:tr>
              <a:tr h="1352054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R-13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Falta de algún integrante clave durante el sprint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ALTO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I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n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v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e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s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ti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gar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 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b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uenas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 p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rá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ctic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s,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 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u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s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ar 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p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l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nt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il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l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s y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 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p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e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dir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 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feedb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ck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 te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mpr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no.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Todo el Equipo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Recursos Humanos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01/11/2025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Abierto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</a:tr>
              <a:tr h="1649314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R-14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Confus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i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ón en 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e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l u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so de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l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 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e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p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os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i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t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orio (b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ra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n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c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hes, comm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i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ts, etc.).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ALTO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Def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i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nir flujo simpl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e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 (p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o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 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ej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em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pl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o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,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 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ma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in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 + f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e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ature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 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branch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e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s) y no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mas 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d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e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 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c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o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mmits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Alex Orell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T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ecn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o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l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ógico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21/11/2025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Abierto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</a:tr>
              <a:tr h="1352054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R-15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F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lt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 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d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e experiencia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 p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ev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ia en proyectos simi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l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ares.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ALTO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Re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gistrar entrega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s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 en un calendar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io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 compa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t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i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d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o 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con recordato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rio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s.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G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onz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l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o troncoso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G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es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tión y 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p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lanific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aci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ó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21/11/2025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Abierto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</a:tr>
            </a:tbl>
          </a:graphicData>
        </a:graphic>
      </p:graphicFrame>
      <p:sp>
        <p:nvSpPr>
          <p:cNvPr name="TextBox 4" id="4"/>
          <p:cNvSpPr txBox="true"/>
          <p:nvPr/>
        </p:nvSpPr>
        <p:spPr>
          <a:xfrm rot="0">
            <a:off x="586804" y="171450"/>
            <a:ext cx="6435910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0"/>
              </a:lnSpc>
            </a:pPr>
            <a:r>
              <a:rPr lang="en-US" sz="3800" b="true">
                <a:solidFill>
                  <a:srgbClr val="006747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Riesgo asociado</a:t>
            </a:r>
          </a:p>
        </p:txBody>
      </p: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428238" y="7002863"/>
          <a:ext cx="17123195" cy="3000375"/>
        </p:xfrm>
        <a:graphic>
          <a:graphicData uri="http://schemas.openxmlformats.org/drawingml/2006/table">
            <a:tbl>
              <a:tblPr/>
              <a:tblGrid>
                <a:gridCol w="926371"/>
                <a:gridCol w="3737847"/>
                <a:gridCol w="1728577"/>
                <a:gridCol w="2929996"/>
                <a:gridCol w="2267144"/>
                <a:gridCol w="2396122"/>
                <a:gridCol w="3137137"/>
              </a:tblGrid>
              <a:tr h="877923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ID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13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Descripcion del problema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13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criticidad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13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acciones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13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FEFEFE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Responsable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13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16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200">
                          <a:solidFill>
                            <a:srgbClr val="FEFEFE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Fecha de cierre(estimada de cierre)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13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FEFEFE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ESTADO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131"/>
                    </a:solidFill>
                  </a:tcPr>
                </a:tc>
              </a:tr>
              <a:tr h="1061226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I-11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Vista crud de usuario para administrador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Alto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Revisar endpoint de detalle de usuari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Leandro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31/10/2025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Abierto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</a:tr>
              <a:tr h="1061226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I-12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Error en testing de proyecto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Alto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Se ajusta la versión de todos los devs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Leandro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18/10/2025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Cerrado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</a:tr>
            </a:tbl>
          </a:graphicData>
        </a:graphic>
      </p:graphicFrame>
      <p:sp>
        <p:nvSpPr>
          <p:cNvPr name="TextBox 6" id="6"/>
          <p:cNvSpPr txBox="true"/>
          <p:nvPr/>
        </p:nvSpPr>
        <p:spPr>
          <a:xfrm rot="0">
            <a:off x="428238" y="6431363"/>
            <a:ext cx="15176887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0"/>
              </a:lnSpc>
            </a:pPr>
            <a:r>
              <a:rPr lang="en-US" sz="3800" b="true">
                <a:solidFill>
                  <a:srgbClr val="006747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Registro de incidencia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170106" y="171450"/>
            <a:ext cx="6435910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00"/>
              </a:lnSpc>
            </a:pPr>
            <a:r>
              <a:rPr lang="en-US" sz="4500" b="true">
                <a:solidFill>
                  <a:srgbClr val="006747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03 Riesgo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0" y="18288000"/>
                </a:moveTo>
                <a:lnTo>
                  <a:pt x="0" y="0"/>
                </a:lnTo>
                <a:lnTo>
                  <a:pt x="10287000" y="0"/>
                </a:lnTo>
                <a:lnTo>
                  <a:pt x="10287000" y="18288000"/>
                </a:lnTo>
                <a:lnTo>
                  <a:pt x="0" y="18288000"/>
                </a:lnTo>
                <a:close/>
              </a:path>
            </a:pathLst>
          </a:custGeom>
          <a:blipFill>
            <a:blip r:embed="rId2"/>
            <a:stretch>
              <a:fillRect l="-12888" t="0" r="-12888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1480529"/>
            <a:ext cx="17006936" cy="7844449"/>
          </a:xfrm>
          <a:custGeom>
            <a:avLst/>
            <a:gdLst/>
            <a:ahLst/>
            <a:cxnLst/>
            <a:rect r="r" b="b" t="t" l="l"/>
            <a:pathLst>
              <a:path h="7844449" w="17006936">
                <a:moveTo>
                  <a:pt x="0" y="0"/>
                </a:moveTo>
                <a:lnTo>
                  <a:pt x="17006936" y="0"/>
                </a:lnTo>
                <a:lnTo>
                  <a:pt x="17006936" y="7844449"/>
                </a:lnTo>
                <a:lnTo>
                  <a:pt x="0" y="78444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170106" y="171450"/>
            <a:ext cx="6435910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00"/>
              </a:lnSpc>
            </a:pPr>
            <a:r>
              <a:rPr lang="en-US" sz="4500" b="true">
                <a:solidFill>
                  <a:srgbClr val="006747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04 Trello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0" y="18288000"/>
                </a:moveTo>
                <a:lnTo>
                  <a:pt x="0" y="0"/>
                </a:lnTo>
                <a:lnTo>
                  <a:pt x="10287000" y="0"/>
                </a:lnTo>
                <a:lnTo>
                  <a:pt x="10287000" y="18288000"/>
                </a:lnTo>
                <a:lnTo>
                  <a:pt x="0" y="18288000"/>
                </a:lnTo>
                <a:close/>
              </a:path>
            </a:pathLst>
          </a:custGeom>
          <a:blipFill>
            <a:blip r:embed="rId2"/>
            <a:stretch>
              <a:fillRect l="-12888" t="0" r="-12888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01158" y="3196553"/>
            <a:ext cx="17085684" cy="5467419"/>
          </a:xfrm>
          <a:custGeom>
            <a:avLst/>
            <a:gdLst/>
            <a:ahLst/>
            <a:cxnLst/>
            <a:rect r="r" b="b" t="t" l="l"/>
            <a:pathLst>
              <a:path h="5467419" w="17085684">
                <a:moveTo>
                  <a:pt x="0" y="0"/>
                </a:moveTo>
                <a:lnTo>
                  <a:pt x="17085684" y="0"/>
                </a:lnTo>
                <a:lnTo>
                  <a:pt x="17085684" y="5467419"/>
                </a:lnTo>
                <a:lnTo>
                  <a:pt x="0" y="54674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926045" y="209550"/>
            <a:ext cx="6435910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5400" b="true">
                <a:solidFill>
                  <a:srgbClr val="006747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05 Compromisos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8E2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774619" y="-1138445"/>
            <a:ext cx="11062159" cy="11425445"/>
            <a:chOff x="0" y="0"/>
            <a:chExt cx="1044796" cy="107910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44796" cy="1079108"/>
            </a:xfrm>
            <a:custGeom>
              <a:avLst/>
              <a:gdLst/>
              <a:ahLst/>
              <a:cxnLst/>
              <a:rect r="r" b="b" t="t" l="l"/>
              <a:pathLst>
                <a:path h="1079108" w="1044796">
                  <a:moveTo>
                    <a:pt x="522398" y="0"/>
                  </a:moveTo>
                  <a:cubicBezTo>
                    <a:pt x="233886" y="0"/>
                    <a:pt x="0" y="241566"/>
                    <a:pt x="0" y="539554"/>
                  </a:cubicBezTo>
                  <a:cubicBezTo>
                    <a:pt x="0" y="837541"/>
                    <a:pt x="233886" y="1079108"/>
                    <a:pt x="522398" y="1079108"/>
                  </a:cubicBezTo>
                  <a:cubicBezTo>
                    <a:pt x="810910" y="1079108"/>
                    <a:pt x="1044796" y="837541"/>
                    <a:pt x="1044796" y="539554"/>
                  </a:cubicBezTo>
                  <a:cubicBezTo>
                    <a:pt x="1044796" y="241566"/>
                    <a:pt x="810910" y="0"/>
                    <a:pt x="522398" y="0"/>
                  </a:cubicBezTo>
                  <a:close/>
                </a:path>
              </a:pathLst>
            </a:custGeom>
            <a:solidFill>
              <a:srgbClr val="FEFEFE">
                <a:alpha val="72941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97950" y="63066"/>
              <a:ext cx="848897" cy="914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241050" y="2062614"/>
            <a:ext cx="6397421" cy="5023327"/>
          </a:xfrm>
          <a:custGeom>
            <a:avLst/>
            <a:gdLst/>
            <a:ahLst/>
            <a:cxnLst/>
            <a:rect r="r" b="b" t="t" l="l"/>
            <a:pathLst>
              <a:path h="5023327" w="6397421">
                <a:moveTo>
                  <a:pt x="0" y="0"/>
                </a:moveTo>
                <a:lnTo>
                  <a:pt x="6397421" y="0"/>
                </a:lnTo>
                <a:lnTo>
                  <a:pt x="6397421" y="5023327"/>
                </a:lnTo>
                <a:lnTo>
                  <a:pt x="0" y="50233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021736" y="8032532"/>
            <a:ext cx="7737381" cy="1843955"/>
          </a:xfrm>
          <a:custGeom>
            <a:avLst/>
            <a:gdLst/>
            <a:ahLst/>
            <a:cxnLst/>
            <a:rect r="r" b="b" t="t" l="l"/>
            <a:pathLst>
              <a:path h="1843955" w="7737381">
                <a:moveTo>
                  <a:pt x="0" y="0"/>
                </a:moveTo>
                <a:lnTo>
                  <a:pt x="7737381" y="0"/>
                </a:lnTo>
                <a:lnTo>
                  <a:pt x="7737381" y="1843956"/>
                </a:lnTo>
                <a:lnTo>
                  <a:pt x="0" y="184395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8412848" y="4574277"/>
            <a:ext cx="8648195" cy="1171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39"/>
              </a:lnSpc>
            </a:pPr>
            <a:r>
              <a:rPr lang="en-US" sz="7699">
                <a:solidFill>
                  <a:srgbClr val="006747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“Muchas gracias ”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10330" y="1491114"/>
            <a:ext cx="5054763" cy="1143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60"/>
              </a:lnSpc>
              <a:spcBef>
                <a:spcPct val="0"/>
              </a:spcBef>
            </a:pPr>
            <a:r>
              <a:rPr lang="en-US" b="true" sz="3800">
                <a:solidFill>
                  <a:srgbClr val="517A7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Comer bien también es dar amor.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DAG4lbE_NEQ</dc:identifier>
  <dcterms:modified xsi:type="dcterms:W3CDTF">2011-08-01T06:04:30Z</dcterms:modified>
  <cp:revision>1</cp:revision>
  <dc:title>09 Fecha 07.11.25 Avance</dc:title>
</cp:coreProperties>
</file>