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nva Sans Bold" charset="1" panose="020B0803030501040103"/>
      <p:regular r:id="rId18"/>
    </p:embeddedFont>
    <p:embeddedFont>
      <p:font typeface="Canva Sans Medium" charset="1" panose="020B0603030501040103"/>
      <p:regular r:id="rId19"/>
    </p:embeddedFont>
    <p:embeddedFont>
      <p:font typeface="Montaser Arabic" charset="1" panose="00000500000000000000"/>
      <p:regular r:id="rId20"/>
    </p:embeddedFont>
    <p:embeddedFont>
      <p:font typeface="Canva Sans" charset="1" panose="020B0503030501040103"/>
      <p:regular r:id="rId21"/>
    </p:embeddedFont>
    <p:embeddedFont>
      <p:font typeface="Canva Sans Bold Italics" charset="1" panose="020B08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69643" cy="10287000"/>
          </a:xfrm>
          <a:custGeom>
            <a:avLst/>
            <a:gdLst/>
            <a:ahLst/>
            <a:cxnLst/>
            <a:rect r="r" b="b" t="t" l="l"/>
            <a:pathLst>
              <a:path h="10287000" w="18369643">
                <a:moveTo>
                  <a:pt x="0" y="0"/>
                </a:moveTo>
                <a:lnTo>
                  <a:pt x="18369643" y="0"/>
                </a:lnTo>
                <a:lnTo>
                  <a:pt x="1836964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7565" y="7195826"/>
            <a:ext cx="3677460" cy="2333935"/>
            <a:chOff x="0" y="0"/>
            <a:chExt cx="1083752" cy="6878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82A39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255323" y="8348789"/>
            <a:ext cx="2361943" cy="1377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24940" y="7552850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3711" y="7959699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0504" y="167847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721742" cy="10390567"/>
          </a:xfrm>
          <a:custGeom>
            <a:avLst/>
            <a:gdLst/>
            <a:ahLst/>
            <a:cxnLst/>
            <a:rect r="r" b="b" t="t" l="l"/>
            <a:pathLst>
              <a:path h="10390567" w="18721742">
                <a:moveTo>
                  <a:pt x="0" y="0"/>
                </a:moveTo>
                <a:lnTo>
                  <a:pt x="18721742" y="0"/>
                </a:lnTo>
                <a:lnTo>
                  <a:pt x="18721742" y="10390567"/>
                </a:lnTo>
                <a:lnTo>
                  <a:pt x="0" y="10390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962147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747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119533" y="6405672"/>
            <a:ext cx="2585935" cy="3881328"/>
          </a:xfrm>
          <a:custGeom>
            <a:avLst/>
            <a:gdLst/>
            <a:ahLst/>
            <a:cxnLst/>
            <a:rect r="r" b="b" t="t" l="l"/>
            <a:pathLst>
              <a:path h="3881328" w="2585935">
                <a:moveTo>
                  <a:pt x="0" y="0"/>
                </a:moveTo>
                <a:lnTo>
                  <a:pt x="2585935" y="0"/>
                </a:lnTo>
                <a:lnTo>
                  <a:pt x="2585935" y="3881328"/>
                </a:lnTo>
                <a:lnTo>
                  <a:pt x="0" y="38813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6045" y="209550"/>
            <a:ext cx="643591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sz="6399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5485" y="304342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01 Compromiso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5485" y="4097772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02 Avances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5485" y="5155047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15485" y="6212322"/>
            <a:ext cx="1086622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Compromisos Próxima clase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55510" y="4889016"/>
            <a:ext cx="7407579" cy="74075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D9DB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60787" y="1028700"/>
            <a:ext cx="12237949" cy="443626"/>
          </a:xfrm>
          <a:custGeom>
            <a:avLst/>
            <a:gdLst/>
            <a:ahLst/>
            <a:cxnLst/>
            <a:rect r="r" b="b" t="t" l="l"/>
            <a:pathLst>
              <a:path h="443626" w="12237949">
                <a:moveTo>
                  <a:pt x="0" y="0"/>
                </a:moveTo>
                <a:lnTo>
                  <a:pt x="12237949" y="0"/>
                </a:lnTo>
                <a:lnTo>
                  <a:pt x="12237949" y="443626"/>
                </a:lnTo>
                <a:lnTo>
                  <a:pt x="0" y="443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0328" y="1862864"/>
            <a:ext cx="14086686" cy="8152669"/>
          </a:xfrm>
          <a:custGeom>
            <a:avLst/>
            <a:gdLst/>
            <a:ahLst/>
            <a:cxnLst/>
            <a:rect r="r" b="b" t="t" l="l"/>
            <a:pathLst>
              <a:path h="8152669" w="14086686">
                <a:moveTo>
                  <a:pt x="0" y="0"/>
                </a:moveTo>
                <a:lnTo>
                  <a:pt x="14086685" y="0"/>
                </a:lnTo>
                <a:lnTo>
                  <a:pt x="14086685" y="8152670"/>
                </a:lnTo>
                <a:lnTo>
                  <a:pt x="0" y="81526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01 </a:t>
            </a: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Compromiso sesión anterior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2780" y="1560898"/>
            <a:ext cx="14181581" cy="8260771"/>
          </a:xfrm>
          <a:custGeom>
            <a:avLst/>
            <a:gdLst/>
            <a:ahLst/>
            <a:cxnLst/>
            <a:rect r="r" b="b" t="t" l="l"/>
            <a:pathLst>
              <a:path h="8260771" w="14181581">
                <a:moveTo>
                  <a:pt x="0" y="0"/>
                </a:moveTo>
                <a:lnTo>
                  <a:pt x="14181581" y="0"/>
                </a:lnTo>
                <a:lnTo>
                  <a:pt x="14181581" y="8260771"/>
                </a:lnTo>
                <a:lnTo>
                  <a:pt x="0" y="8260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30845" y="-9525"/>
            <a:ext cx="1535936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00"/>
              </a:lnSpc>
            </a:pPr>
            <a:r>
              <a:rPr lang="en-US" sz="6500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02 Avances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2780" y="971550"/>
            <a:ext cx="3327202" cy="4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9"/>
              </a:lnSpc>
              <a:spcBef>
                <a:spcPct val="0"/>
              </a:spcBef>
            </a:pPr>
            <a:r>
              <a:rPr lang="en-US" sz="25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Bourndown Sprint 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4696" y="3508244"/>
            <a:ext cx="1810086" cy="872615"/>
            <a:chOff x="0" y="0"/>
            <a:chExt cx="533435" cy="2571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6842" y="7736237"/>
            <a:ext cx="3715880" cy="2258906"/>
            <a:chOff x="0" y="0"/>
            <a:chExt cx="1095075" cy="66570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5075" cy="665702"/>
            </a:xfrm>
            <a:custGeom>
              <a:avLst/>
              <a:gdLst/>
              <a:ahLst/>
              <a:cxnLst/>
              <a:rect r="r" b="b" t="t" l="l"/>
              <a:pathLst>
                <a:path h="665702" w="1095075">
                  <a:moveTo>
                    <a:pt x="33335" y="0"/>
                  </a:moveTo>
                  <a:lnTo>
                    <a:pt x="1061739" y="0"/>
                  </a:lnTo>
                  <a:cubicBezTo>
                    <a:pt x="1070580" y="0"/>
                    <a:pt x="1079059" y="3512"/>
                    <a:pt x="1085311" y="9764"/>
                  </a:cubicBezTo>
                  <a:cubicBezTo>
                    <a:pt x="1091563" y="16015"/>
                    <a:pt x="1095075" y="24494"/>
                    <a:pt x="1095075" y="33335"/>
                  </a:cubicBezTo>
                  <a:lnTo>
                    <a:pt x="1095075" y="632367"/>
                  </a:lnTo>
                  <a:cubicBezTo>
                    <a:pt x="1095075" y="641208"/>
                    <a:pt x="1091563" y="649687"/>
                    <a:pt x="1085311" y="655939"/>
                  </a:cubicBezTo>
                  <a:cubicBezTo>
                    <a:pt x="1079059" y="662190"/>
                    <a:pt x="1070580" y="665702"/>
                    <a:pt x="1061739" y="665702"/>
                  </a:cubicBezTo>
                  <a:lnTo>
                    <a:pt x="33335" y="665702"/>
                  </a:lnTo>
                  <a:cubicBezTo>
                    <a:pt x="14925" y="665702"/>
                    <a:pt x="0" y="650778"/>
                    <a:pt x="0" y="632367"/>
                  </a:cubicBezTo>
                  <a:lnTo>
                    <a:pt x="0" y="33335"/>
                  </a:lnTo>
                  <a:cubicBezTo>
                    <a:pt x="0" y="24494"/>
                    <a:pt x="3512" y="16015"/>
                    <a:pt x="9764" y="9764"/>
                  </a:cubicBezTo>
                  <a:cubicBezTo>
                    <a:pt x="16015" y="3512"/>
                    <a:pt x="24494" y="0"/>
                    <a:pt x="3333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1095075" cy="7323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24696" y="1002035"/>
            <a:ext cx="3677460" cy="2333935"/>
            <a:chOff x="0" y="0"/>
            <a:chExt cx="1083752" cy="68781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3752" cy="687814"/>
            </a:xfrm>
            <a:custGeom>
              <a:avLst/>
              <a:gdLst/>
              <a:ahLst/>
              <a:cxnLst/>
              <a:rect r="r" b="b" t="t" l="l"/>
              <a:pathLst>
                <a:path h="687814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654130"/>
                  </a:lnTo>
                  <a:cubicBezTo>
                    <a:pt x="1083752" y="672733"/>
                    <a:pt x="1068671" y="687814"/>
                    <a:pt x="1050068" y="687814"/>
                  </a:cubicBezTo>
                  <a:lnTo>
                    <a:pt x="33684" y="687814"/>
                  </a:lnTo>
                  <a:cubicBezTo>
                    <a:pt x="15081" y="687814"/>
                    <a:pt x="0" y="672733"/>
                    <a:pt x="0" y="654130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83752" cy="75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313991" y="2048373"/>
            <a:ext cx="2361943" cy="13778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2397272" y="3496242"/>
            <a:ext cx="1810086" cy="872615"/>
            <a:chOff x="0" y="0"/>
            <a:chExt cx="533435" cy="2571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03/10/2025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27179" y="4469062"/>
            <a:ext cx="1810086" cy="872615"/>
            <a:chOff x="0" y="0"/>
            <a:chExt cx="533435" cy="2571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399755" y="4457060"/>
            <a:ext cx="1810086" cy="872615"/>
            <a:chOff x="0" y="0"/>
            <a:chExt cx="533435" cy="257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3435" cy="257161"/>
            </a:xfrm>
            <a:custGeom>
              <a:avLst/>
              <a:gdLst/>
              <a:ahLst/>
              <a:cxnLst/>
              <a:rect r="r" b="b" t="t" l="l"/>
              <a:pathLst>
                <a:path h="257161" w="533435">
                  <a:moveTo>
                    <a:pt x="68434" y="0"/>
                  </a:moveTo>
                  <a:lnTo>
                    <a:pt x="465001" y="0"/>
                  </a:lnTo>
                  <a:cubicBezTo>
                    <a:pt x="483151" y="0"/>
                    <a:pt x="500557" y="7210"/>
                    <a:pt x="513391" y="20044"/>
                  </a:cubicBezTo>
                  <a:cubicBezTo>
                    <a:pt x="526225" y="32878"/>
                    <a:pt x="533435" y="50284"/>
                    <a:pt x="533435" y="68434"/>
                  </a:cubicBezTo>
                  <a:lnTo>
                    <a:pt x="533435" y="188727"/>
                  </a:lnTo>
                  <a:cubicBezTo>
                    <a:pt x="533435" y="206877"/>
                    <a:pt x="526225" y="224283"/>
                    <a:pt x="513391" y="237117"/>
                  </a:cubicBezTo>
                  <a:cubicBezTo>
                    <a:pt x="500557" y="249951"/>
                    <a:pt x="483151" y="257161"/>
                    <a:pt x="465001" y="257161"/>
                  </a:cubicBezTo>
                  <a:lnTo>
                    <a:pt x="68434" y="257161"/>
                  </a:lnTo>
                  <a:cubicBezTo>
                    <a:pt x="50284" y="257161"/>
                    <a:pt x="32878" y="249951"/>
                    <a:pt x="20044" y="237117"/>
                  </a:cubicBezTo>
                  <a:cubicBezTo>
                    <a:pt x="7210" y="224283"/>
                    <a:pt x="0" y="206877"/>
                    <a:pt x="0" y="188727"/>
                  </a:cubicBezTo>
                  <a:lnTo>
                    <a:pt x="0" y="68434"/>
                  </a:lnTo>
                  <a:cubicBezTo>
                    <a:pt x="0" y="50284"/>
                    <a:pt x="7210" y="32878"/>
                    <a:pt x="20044" y="20044"/>
                  </a:cubicBezTo>
                  <a:cubicBezTo>
                    <a:pt x="32878" y="7210"/>
                    <a:pt x="50284" y="0"/>
                    <a:pt x="68434" y="0"/>
                  </a:cubicBezTo>
                  <a:close/>
                </a:path>
              </a:pathLst>
            </a:custGeom>
            <a:solidFill>
              <a:srgbClr val="65A6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533435" cy="323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  <a:r>
                <a:rPr lang="en-US" sz="2099" spc="2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10/10/2025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76842" y="6069981"/>
            <a:ext cx="3677460" cy="1523380"/>
            <a:chOff x="0" y="0"/>
            <a:chExt cx="1083752" cy="44894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3752" cy="448942"/>
            </a:xfrm>
            <a:custGeom>
              <a:avLst/>
              <a:gdLst/>
              <a:ahLst/>
              <a:cxnLst/>
              <a:rect r="r" b="b" t="t" l="l"/>
              <a:pathLst>
                <a:path h="448942" w="1083752">
                  <a:moveTo>
                    <a:pt x="33684" y="0"/>
                  </a:moveTo>
                  <a:lnTo>
                    <a:pt x="1050068" y="0"/>
                  </a:lnTo>
                  <a:cubicBezTo>
                    <a:pt x="1068671" y="0"/>
                    <a:pt x="1083752" y="15081"/>
                    <a:pt x="1083752" y="33684"/>
                  </a:cubicBezTo>
                  <a:lnTo>
                    <a:pt x="1083752" y="415258"/>
                  </a:lnTo>
                  <a:cubicBezTo>
                    <a:pt x="1083752" y="433861"/>
                    <a:pt x="1068671" y="448942"/>
                    <a:pt x="1050068" y="448942"/>
                  </a:cubicBezTo>
                  <a:lnTo>
                    <a:pt x="33684" y="448942"/>
                  </a:lnTo>
                  <a:cubicBezTo>
                    <a:pt x="15081" y="448942"/>
                    <a:pt x="0" y="433861"/>
                    <a:pt x="0" y="415258"/>
                  </a:cubicBezTo>
                  <a:lnTo>
                    <a:pt x="0" y="33684"/>
                  </a:lnTo>
                  <a:cubicBezTo>
                    <a:pt x="0" y="15081"/>
                    <a:pt x="15081" y="0"/>
                    <a:pt x="33684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83752" cy="515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004869" y="7516682"/>
            <a:ext cx="6523412" cy="2478460"/>
            <a:chOff x="0" y="0"/>
            <a:chExt cx="1922458" cy="73040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22458" cy="730406"/>
            </a:xfrm>
            <a:custGeom>
              <a:avLst/>
              <a:gdLst/>
              <a:ahLst/>
              <a:cxnLst/>
              <a:rect r="r" b="b" t="t" l="l"/>
              <a:pathLst>
                <a:path h="730406" w="1922458">
                  <a:moveTo>
                    <a:pt x="18989" y="0"/>
                  </a:moveTo>
                  <a:lnTo>
                    <a:pt x="1903469" y="0"/>
                  </a:lnTo>
                  <a:cubicBezTo>
                    <a:pt x="1908506" y="0"/>
                    <a:pt x="1913335" y="2001"/>
                    <a:pt x="1916896" y="5562"/>
                  </a:cubicBezTo>
                  <a:cubicBezTo>
                    <a:pt x="1920457" y="9123"/>
                    <a:pt x="1922458" y="13953"/>
                    <a:pt x="1922458" y="18989"/>
                  </a:cubicBezTo>
                  <a:lnTo>
                    <a:pt x="1922458" y="711417"/>
                  </a:lnTo>
                  <a:cubicBezTo>
                    <a:pt x="1922458" y="716453"/>
                    <a:pt x="1920457" y="721283"/>
                    <a:pt x="1916896" y="724844"/>
                  </a:cubicBezTo>
                  <a:cubicBezTo>
                    <a:pt x="1913335" y="728405"/>
                    <a:pt x="1908506" y="730406"/>
                    <a:pt x="1903469" y="730406"/>
                  </a:cubicBezTo>
                  <a:lnTo>
                    <a:pt x="18989" y="730406"/>
                  </a:lnTo>
                  <a:cubicBezTo>
                    <a:pt x="13953" y="730406"/>
                    <a:pt x="9123" y="728405"/>
                    <a:pt x="5562" y="724844"/>
                  </a:cubicBezTo>
                  <a:cubicBezTo>
                    <a:pt x="2001" y="721283"/>
                    <a:pt x="0" y="716453"/>
                    <a:pt x="0" y="711417"/>
                  </a:cubicBezTo>
                  <a:lnTo>
                    <a:pt x="0" y="18989"/>
                  </a:lnTo>
                  <a:cubicBezTo>
                    <a:pt x="0" y="13953"/>
                    <a:pt x="2001" y="9123"/>
                    <a:pt x="5562" y="5562"/>
                  </a:cubicBezTo>
                  <a:cubicBezTo>
                    <a:pt x="9123" y="2001"/>
                    <a:pt x="13953" y="0"/>
                    <a:pt x="189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922458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40218" y="7516682"/>
            <a:ext cx="6126018" cy="2478460"/>
            <a:chOff x="0" y="0"/>
            <a:chExt cx="1805345" cy="7304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05345" cy="730406"/>
            </a:xfrm>
            <a:custGeom>
              <a:avLst/>
              <a:gdLst/>
              <a:ahLst/>
              <a:cxnLst/>
              <a:rect r="r" b="b" t="t" l="l"/>
              <a:pathLst>
                <a:path h="730406" w="1805345">
                  <a:moveTo>
                    <a:pt x="20220" y="0"/>
                  </a:moveTo>
                  <a:lnTo>
                    <a:pt x="1785125" y="0"/>
                  </a:lnTo>
                  <a:cubicBezTo>
                    <a:pt x="1796292" y="0"/>
                    <a:pt x="1805345" y="9053"/>
                    <a:pt x="1805345" y="20220"/>
                  </a:cubicBezTo>
                  <a:lnTo>
                    <a:pt x="1805345" y="710185"/>
                  </a:lnTo>
                  <a:cubicBezTo>
                    <a:pt x="1805345" y="721353"/>
                    <a:pt x="1796292" y="730406"/>
                    <a:pt x="1785125" y="730406"/>
                  </a:cubicBezTo>
                  <a:lnTo>
                    <a:pt x="20220" y="730406"/>
                  </a:lnTo>
                  <a:cubicBezTo>
                    <a:pt x="9053" y="730406"/>
                    <a:pt x="0" y="721353"/>
                    <a:pt x="0" y="710185"/>
                  </a:cubicBezTo>
                  <a:lnTo>
                    <a:pt x="0" y="20220"/>
                  </a:lnTo>
                  <a:cubicBezTo>
                    <a:pt x="0" y="9053"/>
                    <a:pt x="9053" y="0"/>
                    <a:pt x="2022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805345" cy="797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942978" y="8224439"/>
            <a:ext cx="993245" cy="905769"/>
            <a:chOff x="0" y="0"/>
            <a:chExt cx="292710" cy="2669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2710" cy="266931"/>
            </a:xfrm>
            <a:custGeom>
              <a:avLst/>
              <a:gdLst/>
              <a:ahLst/>
              <a:cxnLst/>
              <a:rect r="r" b="b" t="t" l="l"/>
              <a:pathLst>
                <a:path h="266931" w="292710">
                  <a:moveTo>
                    <a:pt x="124713" y="0"/>
                  </a:moveTo>
                  <a:lnTo>
                    <a:pt x="167997" y="0"/>
                  </a:lnTo>
                  <a:cubicBezTo>
                    <a:pt x="236874" y="0"/>
                    <a:pt x="292710" y="55836"/>
                    <a:pt x="292710" y="124713"/>
                  </a:cubicBezTo>
                  <a:lnTo>
                    <a:pt x="292710" y="142218"/>
                  </a:lnTo>
                  <a:cubicBezTo>
                    <a:pt x="292710" y="211095"/>
                    <a:pt x="236874" y="266931"/>
                    <a:pt x="167997" y="266931"/>
                  </a:cubicBezTo>
                  <a:lnTo>
                    <a:pt x="124713" y="266931"/>
                  </a:lnTo>
                  <a:cubicBezTo>
                    <a:pt x="55836" y="266931"/>
                    <a:pt x="0" y="211095"/>
                    <a:pt x="0" y="142218"/>
                  </a:cubicBezTo>
                  <a:lnTo>
                    <a:pt x="0" y="124713"/>
                  </a:lnTo>
                  <a:cubicBezTo>
                    <a:pt x="0" y="55836"/>
                    <a:pt x="55836" y="0"/>
                    <a:pt x="124713" y="0"/>
                  </a:cubicBezTo>
                  <a:close/>
                </a:path>
              </a:pathLst>
            </a:custGeom>
            <a:solidFill>
              <a:srgbClr val="FF3131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292710" cy="333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54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735880" y="7114874"/>
            <a:ext cx="355135" cy="355135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BD5F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166537" y="9482830"/>
            <a:ext cx="355135" cy="355135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10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835990" y="685587"/>
            <a:ext cx="9067237" cy="6734404"/>
          </a:xfrm>
          <a:custGeom>
            <a:avLst/>
            <a:gdLst/>
            <a:ahLst/>
            <a:cxnLst/>
            <a:rect r="r" b="b" t="t" l="l"/>
            <a:pathLst>
              <a:path h="6734404" w="9067237">
                <a:moveTo>
                  <a:pt x="0" y="0"/>
                </a:moveTo>
                <a:lnTo>
                  <a:pt x="9067237" y="0"/>
                </a:lnTo>
                <a:lnTo>
                  <a:pt x="9067237" y="6734404"/>
                </a:lnTo>
                <a:lnTo>
                  <a:pt x="0" y="6734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796268" y="3648070"/>
            <a:ext cx="146299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Inicio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926045" y="-83815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Resumen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56398" y="6137317"/>
            <a:ext cx="217866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729597" y="610808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40%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83608" y="1252434"/>
            <a:ext cx="3291978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b="true" sz="2299" spc="22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Fecha del Reporte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12379" y="1659283"/>
            <a:ext cx="2439224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0"/>
              </a:lnSpc>
            </a:pP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  <a:r>
              <a:rPr lang="en-US" sz="3200" b="true">
                <a:solidFill>
                  <a:srgbClr val="EDEDE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/10/2025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2598" y="4608887"/>
            <a:ext cx="1384144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Fecha de </a:t>
            </a:r>
          </a:p>
          <a:p>
            <a:pPr algn="l">
              <a:lnSpc>
                <a:spcPts val="2210"/>
              </a:lnSpc>
            </a:pPr>
            <a:r>
              <a:rPr lang="en-US" b="true" sz="1700" spc="17">
                <a:solidFill>
                  <a:srgbClr val="DFE7F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Fin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70476" y="6477677"/>
            <a:ext cx="2359377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29597" y="6448441"/>
            <a:ext cx="962196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38%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56398" y="6790706"/>
            <a:ext cx="1193766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804629" y="6768799"/>
            <a:ext cx="693438" cy="327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+2%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6224" y="5545471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ANTERIOR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63357" y="8239241"/>
            <a:ext cx="311024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Real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049422" y="8197398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48%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51903" y="8638088"/>
            <a:ext cx="2755793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Avance Esperado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71353" y="8601575"/>
            <a:ext cx="1238190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52%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51903" y="9032740"/>
            <a:ext cx="2627914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Desviacion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091015" y="8994515"/>
            <a:ext cx="693438" cy="45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3131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-4%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4696" y="776223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ESTADO  ACTUAL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54049" y="7146306"/>
            <a:ext cx="1097410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1700" spc="17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5439486" y="7586890"/>
            <a:ext cx="2787880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Logros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603985" y="7586890"/>
            <a:ext cx="3605967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b="true" sz="2199" i="true" spc="21">
                <a:solidFill>
                  <a:srgbClr val="00000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Explicación del Desvió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097032" y="8425546"/>
            <a:ext cx="1020944" cy="48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29"/>
              </a:lnSpc>
            </a:pPr>
            <a:r>
              <a:rPr lang="en-US" sz="3099" b="true">
                <a:solidFill>
                  <a:srgbClr val="FFFFFF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-4%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117975" y="8171422"/>
            <a:ext cx="4615316" cy="1518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 desviación es negativa no se ha logrado completar 3 tareas </a:t>
            </a:r>
          </a:p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por lo tanto estamos  por bajo la curva</a:t>
            </a:r>
          </a:p>
          <a:p>
            <a:pPr algn="l">
              <a:lnSpc>
                <a:spcPts val="2469"/>
              </a:lnSpc>
            </a:pPr>
          </a:p>
        </p:txBody>
      </p:sp>
      <p:sp>
        <p:nvSpPr>
          <p:cNvPr name="TextBox 65" id="65"/>
          <p:cNvSpPr txBox="true"/>
          <p:nvPr/>
        </p:nvSpPr>
        <p:spPr>
          <a:xfrm rot="0">
            <a:off x="5133967" y="8199362"/>
            <a:ext cx="6265216" cy="1463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Pruebas de QA Completada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800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Creación de aplicación Móvil con funcionalidades basicas</a:t>
            </a:r>
          </a:p>
          <a:p>
            <a:pPr algn="l">
              <a:lnSpc>
                <a:spcPts val="2340"/>
              </a:lnSpc>
            </a:pPr>
          </a:p>
        </p:txBody>
      </p:sp>
      <p:sp>
        <p:nvSpPr>
          <p:cNvPr name="TextBox 66" id="66"/>
          <p:cNvSpPr txBox="true"/>
          <p:nvPr/>
        </p:nvSpPr>
        <p:spPr>
          <a:xfrm rot="0">
            <a:off x="863357" y="9435205"/>
            <a:ext cx="982375" cy="29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9"/>
              </a:lnSpc>
            </a:pPr>
            <a:r>
              <a:rPr lang="en-US" sz="1899" spc="18" b="true">
                <a:solidFill>
                  <a:srgbClr val="000000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Estado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428238" y="857250"/>
          <a:ext cx="16576008" cy="5628099"/>
        </p:xfrm>
        <a:graphic>
          <a:graphicData uri="http://schemas.openxmlformats.org/drawingml/2006/table">
            <a:tbl>
              <a:tblPr/>
              <a:tblGrid>
                <a:gridCol w="1051325"/>
                <a:gridCol w="3498394"/>
                <a:gridCol w="1861366"/>
                <a:gridCol w="2446197"/>
                <a:gridCol w="1785345"/>
                <a:gridCol w="1973872"/>
                <a:gridCol w="1728646"/>
                <a:gridCol w="2230865"/>
              </a:tblGrid>
              <a:tr h="1352179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Nivel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PLAN DE MITIGACION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TIPO DE IMPACTO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PLAZO DE IMPLENTACION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850855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Falta de algún integrante clave durante el sprint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24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6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Definir dentro del equipo quien asumirá la responsabilidad de las tareas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Gonzalo troncoso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Tiempo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370174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Riesgo de demostración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</a:t>
                      </a: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ideo demo offline, Servidor Local.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Resputacional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054891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Exposición de credenciales o repositorio mal configurado.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Repositorios Privado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 Valenzuela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Resputacional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21/11/2025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Abierto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86804" y="171450"/>
            <a:ext cx="643591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Riesgo asociado</a:t>
            </a:r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428238" y="7002863"/>
          <a:ext cx="16576008" cy="3476625"/>
        </p:xfrm>
        <a:graphic>
          <a:graphicData uri="http://schemas.openxmlformats.org/drawingml/2006/table">
            <a:tbl>
              <a:tblPr/>
              <a:tblGrid>
                <a:gridCol w="1041981"/>
                <a:gridCol w="3584889"/>
                <a:gridCol w="1657841"/>
                <a:gridCol w="2810097"/>
                <a:gridCol w="2174370"/>
                <a:gridCol w="2298069"/>
                <a:gridCol w="3008761"/>
              </a:tblGrid>
              <a:tr h="760813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Descripcion del problema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criticidad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Responsable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Fecha de cierre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 strike="noStrike" u="none">
                          <a:solidFill>
                            <a:srgbClr val="FEFEFE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ESTADO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3131"/>
                    </a:solidFill>
                  </a:tcPr>
                </a:tc>
              </a:tr>
              <a:tr h="135790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R-08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Ficha nutrición queda con valores necesarios en blanco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 configura página con valores default con distintos casos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09/10/2025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357906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R-09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Apartado de pesos no trae peso actual ni muestra histórico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Alto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 ajusta el perfil para cumplir con las condiciones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Leandro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b="true" sz="170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10/10/2025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2380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Cerrado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428238" y="6431363"/>
            <a:ext cx="1517688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Registro de incidencia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70106" y="171450"/>
            <a:ext cx="6435910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03 Riesgo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11124" y="1251913"/>
            <a:ext cx="13931365" cy="8933488"/>
          </a:xfrm>
          <a:custGeom>
            <a:avLst/>
            <a:gdLst/>
            <a:ahLst/>
            <a:cxnLst/>
            <a:rect r="r" b="b" t="t" l="l"/>
            <a:pathLst>
              <a:path h="8933488" w="13931365">
                <a:moveTo>
                  <a:pt x="0" y="0"/>
                </a:moveTo>
                <a:lnTo>
                  <a:pt x="13931366" y="0"/>
                </a:lnTo>
                <a:lnTo>
                  <a:pt x="13931366" y="8933488"/>
                </a:lnTo>
                <a:lnTo>
                  <a:pt x="0" y="8933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04 Compromisos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9320" y="1277675"/>
            <a:ext cx="17329360" cy="1131222"/>
          </a:xfrm>
          <a:custGeom>
            <a:avLst/>
            <a:gdLst/>
            <a:ahLst/>
            <a:cxnLst/>
            <a:rect r="r" b="b" t="t" l="l"/>
            <a:pathLst>
              <a:path h="1131222" w="17329360">
                <a:moveTo>
                  <a:pt x="0" y="0"/>
                </a:moveTo>
                <a:lnTo>
                  <a:pt x="17329360" y="0"/>
                </a:lnTo>
                <a:lnTo>
                  <a:pt x="17329360" y="1131222"/>
                </a:lnTo>
                <a:lnTo>
                  <a:pt x="0" y="113122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87094" y="4133571"/>
            <a:ext cx="8315073" cy="5485638"/>
          </a:xfrm>
          <a:custGeom>
            <a:avLst/>
            <a:gdLst/>
            <a:ahLst/>
            <a:cxnLst/>
            <a:rect r="r" b="b" t="t" l="l"/>
            <a:pathLst>
              <a:path h="5485638" w="8315073">
                <a:moveTo>
                  <a:pt x="0" y="0"/>
                </a:moveTo>
                <a:lnTo>
                  <a:pt x="8315073" y="0"/>
                </a:lnTo>
                <a:lnTo>
                  <a:pt x="8315073" y="5485639"/>
                </a:lnTo>
                <a:lnTo>
                  <a:pt x="0" y="54856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Vista de Desarrollo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26675" y="2801596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Vista de Desarrollo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5483" y="1414916"/>
            <a:ext cx="17917034" cy="2488477"/>
          </a:xfrm>
          <a:custGeom>
            <a:avLst/>
            <a:gdLst/>
            <a:ahLst/>
            <a:cxnLst/>
            <a:rect r="r" b="b" t="t" l="l"/>
            <a:pathLst>
              <a:path h="2488477" w="17917034">
                <a:moveTo>
                  <a:pt x="0" y="0"/>
                </a:moveTo>
                <a:lnTo>
                  <a:pt x="17917034" y="0"/>
                </a:lnTo>
                <a:lnTo>
                  <a:pt x="17917034" y="2488477"/>
                </a:lnTo>
                <a:lnTo>
                  <a:pt x="0" y="24884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5374939"/>
            <a:ext cx="19273950" cy="1499085"/>
          </a:xfrm>
          <a:custGeom>
            <a:avLst/>
            <a:gdLst/>
            <a:ahLst/>
            <a:cxnLst/>
            <a:rect r="r" b="b" t="t" l="l"/>
            <a:pathLst>
              <a:path h="1499085" w="19273950">
                <a:moveTo>
                  <a:pt x="0" y="0"/>
                </a:moveTo>
                <a:lnTo>
                  <a:pt x="19273950" y="0"/>
                </a:lnTo>
                <a:lnTo>
                  <a:pt x="19273950" y="1499085"/>
                </a:lnTo>
                <a:lnTo>
                  <a:pt x="0" y="14990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5483" y="8811158"/>
            <a:ext cx="17731998" cy="1157505"/>
          </a:xfrm>
          <a:custGeom>
            <a:avLst/>
            <a:gdLst/>
            <a:ahLst/>
            <a:cxnLst/>
            <a:rect r="r" b="b" t="t" l="l"/>
            <a:pathLst>
              <a:path h="1157505" w="17731998">
                <a:moveTo>
                  <a:pt x="0" y="0"/>
                </a:moveTo>
                <a:lnTo>
                  <a:pt x="17731998" y="0"/>
                </a:lnTo>
                <a:lnTo>
                  <a:pt x="17731998" y="1157506"/>
                </a:lnTo>
                <a:lnTo>
                  <a:pt x="0" y="115750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926045" y="209550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Vista Física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96561" y="4324350"/>
            <a:ext cx="7570519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Vista de Casos de Uso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33527" y="7293124"/>
            <a:ext cx="643591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Vista de Procesos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18288000"/>
                </a:moveTo>
                <a:lnTo>
                  <a:pt x="0" y="0"/>
                </a:ln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close/>
              </a:path>
            </a:pathLst>
          </a:custGeom>
          <a:blipFill>
            <a:blip r:embed="rId2"/>
            <a:stretch>
              <a:fillRect l="-12888" t="0" r="-1288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20931" y="365833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96286" y="0"/>
            <a:ext cx="11091105" cy="10287000"/>
          </a:xfrm>
          <a:custGeom>
            <a:avLst/>
            <a:gdLst/>
            <a:ahLst/>
            <a:cxnLst/>
            <a:rect r="r" b="b" t="t" l="l"/>
            <a:pathLst>
              <a:path h="10287000" w="11091105">
                <a:moveTo>
                  <a:pt x="0" y="0"/>
                </a:moveTo>
                <a:lnTo>
                  <a:pt x="11091105" y="0"/>
                </a:lnTo>
                <a:lnTo>
                  <a:pt x="110911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0376" y="619125"/>
            <a:ext cx="643591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80"/>
              </a:lnSpc>
            </a:pPr>
            <a:r>
              <a:rPr lang="en-US" sz="5400" b="true">
                <a:solidFill>
                  <a:srgbClr val="006747"/>
                </a:solidFill>
                <a:latin typeface="Canva Sans Medium"/>
                <a:ea typeface="Canva Sans Medium"/>
                <a:cs typeface="Canva Sans Medium"/>
                <a:sym typeface="Canva Sans Medium"/>
              </a:rPr>
              <a:t>Vista Modelo de Datos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8E2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774619" y="-1138445"/>
            <a:ext cx="11062159" cy="11425445"/>
            <a:chOff x="0" y="0"/>
            <a:chExt cx="1044796" cy="10791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796" cy="1079108"/>
            </a:xfrm>
            <a:custGeom>
              <a:avLst/>
              <a:gdLst/>
              <a:ahLst/>
              <a:cxnLst/>
              <a:rect r="r" b="b" t="t" l="l"/>
              <a:pathLst>
                <a:path h="1079108" w="1044796">
                  <a:moveTo>
                    <a:pt x="522398" y="0"/>
                  </a:moveTo>
                  <a:cubicBezTo>
                    <a:pt x="233886" y="0"/>
                    <a:pt x="0" y="241566"/>
                    <a:pt x="0" y="539554"/>
                  </a:cubicBezTo>
                  <a:cubicBezTo>
                    <a:pt x="0" y="837541"/>
                    <a:pt x="233886" y="1079108"/>
                    <a:pt x="522398" y="1079108"/>
                  </a:cubicBezTo>
                  <a:cubicBezTo>
                    <a:pt x="810910" y="1079108"/>
                    <a:pt x="1044796" y="837541"/>
                    <a:pt x="1044796" y="539554"/>
                  </a:cubicBezTo>
                  <a:cubicBezTo>
                    <a:pt x="1044796" y="241566"/>
                    <a:pt x="810910" y="0"/>
                    <a:pt x="522398" y="0"/>
                  </a:cubicBezTo>
                  <a:close/>
                </a:path>
              </a:pathLst>
            </a:custGeom>
            <a:solidFill>
              <a:srgbClr val="FEFEFE">
                <a:alpha val="72941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97950" y="63066"/>
              <a:ext cx="848897" cy="914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41050" y="2062614"/>
            <a:ext cx="6397421" cy="5023327"/>
          </a:xfrm>
          <a:custGeom>
            <a:avLst/>
            <a:gdLst/>
            <a:ahLst/>
            <a:cxnLst/>
            <a:rect r="r" b="b" t="t" l="l"/>
            <a:pathLst>
              <a:path h="5023327" w="6397421">
                <a:moveTo>
                  <a:pt x="0" y="0"/>
                </a:moveTo>
                <a:lnTo>
                  <a:pt x="6397421" y="0"/>
                </a:lnTo>
                <a:lnTo>
                  <a:pt x="6397421" y="5023327"/>
                </a:lnTo>
                <a:lnTo>
                  <a:pt x="0" y="50233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021736" y="8032532"/>
            <a:ext cx="7737381" cy="1843955"/>
          </a:xfrm>
          <a:custGeom>
            <a:avLst/>
            <a:gdLst/>
            <a:ahLst/>
            <a:cxnLst/>
            <a:rect r="r" b="b" t="t" l="l"/>
            <a:pathLst>
              <a:path h="1843955" w="7737381">
                <a:moveTo>
                  <a:pt x="0" y="0"/>
                </a:moveTo>
                <a:lnTo>
                  <a:pt x="7737381" y="0"/>
                </a:lnTo>
                <a:lnTo>
                  <a:pt x="7737381" y="1843956"/>
                </a:lnTo>
                <a:lnTo>
                  <a:pt x="0" y="184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412848" y="4574277"/>
            <a:ext cx="8648195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7699">
                <a:solidFill>
                  <a:srgbClr val="006747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“Muchas gracias 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0330" y="1491114"/>
            <a:ext cx="505476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517A7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Comer bien también es dar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DAG19YKaLwU</dc:identifier>
  <dcterms:modified xsi:type="dcterms:W3CDTF">2011-08-01T06:04:30Z</dcterms:modified>
  <cp:revision>1</cp:revision>
  <dc:title>05 Fecha 10.10.25 Avance</dc:title>
</cp:coreProperties>
</file>