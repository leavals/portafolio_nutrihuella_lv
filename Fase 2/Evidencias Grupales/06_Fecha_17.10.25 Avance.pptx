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8288000" cy="10287000"/>
  <p:notesSz cx="6858000" cy="9144000"/>
  <p:embeddedFontLst>
    <p:embeddedFont>
      <p:font typeface="Canva Sans" panose="020B0604020202020204" charset="0"/>
      <p:regular r:id="rId11"/>
    </p:embeddedFont>
    <p:embeddedFont>
      <p:font typeface="Canva Sans Bold" panose="020B0604020202020204" charset="0"/>
      <p:regular r:id="rId12"/>
    </p:embeddedFont>
    <p:embeddedFont>
      <p:font typeface="Canva Sans Bold Italics" panose="020B0604020202020204" charset="0"/>
      <p:regular r:id="rId13"/>
    </p:embeddedFont>
    <p:embeddedFont>
      <p:font typeface="Canva Sans Medium" panose="020B0604020202020204" charset="0"/>
      <p:regular r:id="rId14"/>
    </p:embeddedFont>
    <p:embeddedFont>
      <p:font typeface="Montaser Arabic" panose="020B0604020202020204" charset="-78"/>
      <p:regular r:id="rId1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69" d="100"/>
          <a:sy n="69" d="100"/>
        </p:scale>
        <p:origin x="756" y="6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font" Target="fonts/font5.fntdata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10/17/2025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10/17/2025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8E2C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369643" cy="10287000"/>
          </a:xfrm>
          <a:custGeom>
            <a:avLst/>
            <a:gdLst/>
            <a:ahLst/>
            <a:cxnLst/>
            <a:rect l="l" t="t" r="r" b="b"/>
            <a:pathLst>
              <a:path w="18369643" h="10287000">
                <a:moveTo>
                  <a:pt x="0" y="0"/>
                </a:moveTo>
                <a:lnTo>
                  <a:pt x="18369643" y="0"/>
                </a:lnTo>
                <a:lnTo>
                  <a:pt x="18369643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grpSp>
        <p:nvGrpSpPr>
          <p:cNvPr id="3" name="Group 3"/>
          <p:cNvGrpSpPr/>
          <p:nvPr/>
        </p:nvGrpSpPr>
        <p:grpSpPr>
          <a:xfrm>
            <a:off x="1597565" y="7195826"/>
            <a:ext cx="3677460" cy="2333935"/>
            <a:chOff x="0" y="0"/>
            <a:chExt cx="1083752" cy="687814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083752" cy="687814"/>
            </a:xfrm>
            <a:custGeom>
              <a:avLst/>
              <a:gdLst/>
              <a:ahLst/>
              <a:cxnLst/>
              <a:rect l="l" t="t" r="r" b="b"/>
              <a:pathLst>
                <a:path w="1083752" h="687814">
                  <a:moveTo>
                    <a:pt x="33684" y="0"/>
                  </a:moveTo>
                  <a:lnTo>
                    <a:pt x="1050068" y="0"/>
                  </a:lnTo>
                  <a:cubicBezTo>
                    <a:pt x="1068671" y="0"/>
                    <a:pt x="1083752" y="15081"/>
                    <a:pt x="1083752" y="33684"/>
                  </a:cubicBezTo>
                  <a:lnTo>
                    <a:pt x="1083752" y="654130"/>
                  </a:lnTo>
                  <a:cubicBezTo>
                    <a:pt x="1083752" y="672733"/>
                    <a:pt x="1068671" y="687814"/>
                    <a:pt x="1050068" y="687814"/>
                  </a:cubicBezTo>
                  <a:lnTo>
                    <a:pt x="33684" y="687814"/>
                  </a:lnTo>
                  <a:cubicBezTo>
                    <a:pt x="15081" y="687814"/>
                    <a:pt x="0" y="672733"/>
                    <a:pt x="0" y="654130"/>
                  </a:cubicBezTo>
                  <a:lnTo>
                    <a:pt x="0" y="33684"/>
                  </a:lnTo>
                  <a:cubicBezTo>
                    <a:pt x="0" y="15081"/>
                    <a:pt x="15081" y="0"/>
                    <a:pt x="33684" y="0"/>
                  </a:cubicBezTo>
                  <a:close/>
                </a:path>
              </a:pathLst>
            </a:custGeom>
            <a:solidFill>
              <a:srgbClr val="82A399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66675"/>
              <a:ext cx="1083752" cy="7544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54"/>
                </a:lnSpc>
              </a:pPr>
              <a:endParaRPr/>
            </a:p>
          </p:txBody>
        </p:sp>
      </p:grpSp>
      <p:pic>
        <p:nvPicPr>
          <p:cNvPr id="6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5323" y="8348789"/>
            <a:ext cx="2361943" cy="1377800"/>
          </a:xfrm>
          <a:prstGeom prst="rect">
            <a:avLst/>
          </a:prstGeom>
        </p:spPr>
      </p:pic>
      <p:sp>
        <p:nvSpPr>
          <p:cNvPr id="7" name="TextBox 7"/>
          <p:cNvSpPr txBox="1"/>
          <p:nvPr/>
        </p:nvSpPr>
        <p:spPr>
          <a:xfrm>
            <a:off x="2024940" y="7552850"/>
            <a:ext cx="3291978" cy="3613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89"/>
              </a:lnSpc>
            </a:pPr>
            <a:r>
              <a:rPr lang="en-US" sz="2299" b="1" spc="22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Fecha del Reporte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2053711" y="7959699"/>
            <a:ext cx="2439224" cy="5118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60"/>
              </a:lnSpc>
            </a:pPr>
            <a:r>
              <a:rPr lang="en-US" sz="32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17/10/2025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310504" y="1678474"/>
            <a:ext cx="5054763" cy="1143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560"/>
              </a:lnSpc>
              <a:spcBef>
                <a:spcPct val="0"/>
              </a:spcBef>
            </a:pPr>
            <a:r>
              <a:rPr lang="en-US" sz="3800" b="1">
                <a:solidFill>
                  <a:srgbClr val="517A7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Comer bien también es dar amor.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8E2C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721742" cy="10390567"/>
          </a:xfrm>
          <a:custGeom>
            <a:avLst/>
            <a:gdLst/>
            <a:ahLst/>
            <a:cxnLst/>
            <a:rect l="l" t="t" r="r" b="b"/>
            <a:pathLst>
              <a:path w="18721742" h="10390567">
                <a:moveTo>
                  <a:pt x="0" y="0"/>
                </a:moveTo>
                <a:lnTo>
                  <a:pt x="18721742" y="0"/>
                </a:lnTo>
                <a:lnTo>
                  <a:pt x="18721742" y="10390567"/>
                </a:lnTo>
                <a:lnTo>
                  <a:pt x="0" y="1039056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8E2C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3555510" y="4962147"/>
            <a:ext cx="7407579" cy="7407579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6747">
                <a:alpha val="72941"/>
              </a:srgbClr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15119533" y="6405672"/>
            <a:ext cx="2585935" cy="3881328"/>
          </a:xfrm>
          <a:custGeom>
            <a:avLst/>
            <a:gdLst/>
            <a:ahLst/>
            <a:cxnLst/>
            <a:rect l="l" t="t" r="r" b="b"/>
            <a:pathLst>
              <a:path w="2585935" h="3881328">
                <a:moveTo>
                  <a:pt x="0" y="0"/>
                </a:moveTo>
                <a:lnTo>
                  <a:pt x="2585935" y="0"/>
                </a:lnTo>
                <a:lnTo>
                  <a:pt x="2585935" y="3881328"/>
                </a:lnTo>
                <a:lnTo>
                  <a:pt x="0" y="388132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6" name="TextBox 6"/>
          <p:cNvSpPr txBox="1"/>
          <p:nvPr/>
        </p:nvSpPr>
        <p:spPr>
          <a:xfrm>
            <a:off x="5926045" y="209550"/>
            <a:ext cx="6435910" cy="9715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679"/>
              </a:lnSpc>
            </a:pPr>
            <a:r>
              <a:rPr lang="en-US" sz="6399" b="1">
                <a:solidFill>
                  <a:srgbClr val="006747"/>
                </a:solidFill>
                <a:latin typeface="Canva Sans Medium"/>
                <a:ea typeface="Canva Sans Medium"/>
                <a:cs typeface="Canva Sans Medium"/>
                <a:sym typeface="Canva Sans Medium"/>
              </a:rPr>
              <a:t>AGENDA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15485" y="3043420"/>
            <a:ext cx="6435910" cy="819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480"/>
              </a:lnSpc>
            </a:pPr>
            <a:r>
              <a:rPr lang="en-US" sz="5400" b="1">
                <a:solidFill>
                  <a:srgbClr val="006747"/>
                </a:solidFill>
                <a:latin typeface="Canva Sans Medium"/>
                <a:ea typeface="Canva Sans Medium"/>
                <a:cs typeface="Canva Sans Medium"/>
                <a:sym typeface="Canva Sans Medium"/>
              </a:rPr>
              <a:t>01 Compromiso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715485" y="4097772"/>
            <a:ext cx="6435910" cy="819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480"/>
              </a:lnSpc>
            </a:pPr>
            <a:r>
              <a:rPr lang="en-US" sz="5400" b="1">
                <a:solidFill>
                  <a:srgbClr val="006747"/>
                </a:solidFill>
                <a:latin typeface="Canva Sans Medium"/>
                <a:ea typeface="Canva Sans Medium"/>
                <a:cs typeface="Canva Sans Medium"/>
                <a:sym typeface="Canva Sans Medium"/>
              </a:rPr>
              <a:t>02 Avances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15485" y="5155047"/>
            <a:ext cx="6435910" cy="819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480"/>
              </a:lnSpc>
            </a:pPr>
            <a:r>
              <a:rPr lang="en-US" sz="5400" b="1">
                <a:solidFill>
                  <a:srgbClr val="006747"/>
                </a:solidFill>
                <a:latin typeface="Canva Sans Medium"/>
                <a:ea typeface="Canva Sans Medium"/>
                <a:cs typeface="Canva Sans Medium"/>
                <a:sym typeface="Canva Sans Medium"/>
              </a:rPr>
              <a:t>03 Riesgo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15485" y="6212322"/>
            <a:ext cx="10866225" cy="819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480"/>
              </a:lnSpc>
            </a:pPr>
            <a:r>
              <a:rPr lang="en-US" sz="5400" b="1">
                <a:solidFill>
                  <a:srgbClr val="006747"/>
                </a:solidFill>
                <a:latin typeface="Canva Sans Medium"/>
                <a:ea typeface="Canva Sans Medium"/>
                <a:cs typeface="Canva Sans Medium"/>
                <a:sym typeface="Canva Sans Medium"/>
              </a:rPr>
              <a:t>04 Compromisos Próxima clase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8E2C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3555510" y="4889016"/>
            <a:ext cx="7407579" cy="7407579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9D9DB">
                <a:alpha val="72941"/>
              </a:srgbClr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330845" y="990600"/>
            <a:ext cx="12237949" cy="443626"/>
          </a:xfrm>
          <a:custGeom>
            <a:avLst/>
            <a:gdLst/>
            <a:ahLst/>
            <a:cxnLst/>
            <a:rect l="l" t="t" r="r" b="b"/>
            <a:pathLst>
              <a:path w="12237949" h="443626">
                <a:moveTo>
                  <a:pt x="0" y="0"/>
                </a:moveTo>
                <a:lnTo>
                  <a:pt x="12237949" y="0"/>
                </a:lnTo>
                <a:lnTo>
                  <a:pt x="12237949" y="443626"/>
                </a:lnTo>
                <a:lnTo>
                  <a:pt x="0" y="44362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6" name="Freeform 6"/>
          <p:cNvSpPr/>
          <p:nvPr/>
        </p:nvSpPr>
        <p:spPr>
          <a:xfrm>
            <a:off x="2301755" y="1707366"/>
            <a:ext cx="13950624" cy="8579634"/>
          </a:xfrm>
          <a:custGeom>
            <a:avLst/>
            <a:gdLst/>
            <a:ahLst/>
            <a:cxnLst/>
            <a:rect l="l" t="t" r="r" b="b"/>
            <a:pathLst>
              <a:path w="13950624" h="8579634">
                <a:moveTo>
                  <a:pt x="0" y="0"/>
                </a:moveTo>
                <a:lnTo>
                  <a:pt x="13950624" y="0"/>
                </a:lnTo>
                <a:lnTo>
                  <a:pt x="13950624" y="8579634"/>
                </a:lnTo>
                <a:lnTo>
                  <a:pt x="0" y="85796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7" name="TextBox 7"/>
          <p:cNvSpPr txBox="1"/>
          <p:nvPr/>
        </p:nvSpPr>
        <p:spPr>
          <a:xfrm>
            <a:off x="330845" y="-9525"/>
            <a:ext cx="15359361" cy="1000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800"/>
              </a:lnSpc>
            </a:pPr>
            <a:r>
              <a:rPr lang="en-US" sz="6500">
                <a:solidFill>
                  <a:srgbClr val="00674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01 Compromiso sesión anterior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8E2C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2238893" y="1862651"/>
            <a:ext cx="13254294" cy="7853169"/>
          </a:xfrm>
          <a:custGeom>
            <a:avLst/>
            <a:gdLst/>
            <a:ahLst/>
            <a:cxnLst/>
            <a:rect l="l" t="t" r="r" b="b"/>
            <a:pathLst>
              <a:path w="13254294" h="7853169">
                <a:moveTo>
                  <a:pt x="0" y="0"/>
                </a:moveTo>
                <a:lnTo>
                  <a:pt x="13254294" y="0"/>
                </a:lnTo>
                <a:lnTo>
                  <a:pt x="13254294" y="7853169"/>
                </a:lnTo>
                <a:lnTo>
                  <a:pt x="0" y="785316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3" name="TextBox 3"/>
          <p:cNvSpPr txBox="1"/>
          <p:nvPr/>
        </p:nvSpPr>
        <p:spPr>
          <a:xfrm>
            <a:off x="330845" y="-9525"/>
            <a:ext cx="15359361" cy="1000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800"/>
              </a:lnSpc>
            </a:pPr>
            <a:r>
              <a:rPr lang="en-US" sz="6500">
                <a:solidFill>
                  <a:srgbClr val="00674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02 Avances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72780" y="971550"/>
            <a:ext cx="3327202" cy="4146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379"/>
              </a:lnSpc>
              <a:spcBef>
                <a:spcPct val="0"/>
              </a:spcBef>
            </a:pPr>
            <a:r>
              <a:rPr lang="en-US" sz="2599">
                <a:solidFill>
                  <a:srgbClr val="00674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Bourndown Sprint 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5400000">
            <a:off x="4000500" y="-4000500"/>
            <a:ext cx="10287000" cy="18288000"/>
          </a:xfrm>
          <a:custGeom>
            <a:avLst/>
            <a:gdLst/>
            <a:ahLst/>
            <a:cxnLst/>
            <a:rect l="l" t="t" r="r" b="b"/>
            <a:pathLst>
              <a:path w="10287000" h="18288000">
                <a:moveTo>
                  <a:pt x="0" y="18288000"/>
                </a:moveTo>
                <a:lnTo>
                  <a:pt x="0" y="0"/>
                </a:lnTo>
                <a:lnTo>
                  <a:pt x="10287000" y="0"/>
                </a:lnTo>
                <a:lnTo>
                  <a:pt x="10287000" y="18288000"/>
                </a:lnTo>
                <a:lnTo>
                  <a:pt x="0" y="18288000"/>
                </a:lnTo>
                <a:close/>
              </a:path>
            </a:pathLst>
          </a:custGeom>
          <a:blipFill>
            <a:blip r:embed="rId2"/>
            <a:stretch>
              <a:fillRect l="-12888" r="-12888"/>
            </a:stretch>
          </a:blipFill>
        </p:spPr>
        <p:txBody>
          <a:bodyPr/>
          <a:lstStyle/>
          <a:p>
            <a:endParaRPr lang="es-ES"/>
          </a:p>
        </p:txBody>
      </p:sp>
      <p:grpSp>
        <p:nvGrpSpPr>
          <p:cNvPr id="3" name="Group 3"/>
          <p:cNvGrpSpPr/>
          <p:nvPr/>
        </p:nvGrpSpPr>
        <p:grpSpPr>
          <a:xfrm>
            <a:off x="524696" y="3508244"/>
            <a:ext cx="1810086" cy="872615"/>
            <a:chOff x="0" y="0"/>
            <a:chExt cx="533435" cy="25716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33435" cy="257161"/>
            </a:xfrm>
            <a:custGeom>
              <a:avLst/>
              <a:gdLst/>
              <a:ahLst/>
              <a:cxnLst/>
              <a:rect l="l" t="t" r="r" b="b"/>
              <a:pathLst>
                <a:path w="533435" h="257161">
                  <a:moveTo>
                    <a:pt x="68434" y="0"/>
                  </a:moveTo>
                  <a:lnTo>
                    <a:pt x="465001" y="0"/>
                  </a:lnTo>
                  <a:cubicBezTo>
                    <a:pt x="483151" y="0"/>
                    <a:pt x="500557" y="7210"/>
                    <a:pt x="513391" y="20044"/>
                  </a:cubicBezTo>
                  <a:cubicBezTo>
                    <a:pt x="526225" y="32878"/>
                    <a:pt x="533435" y="50284"/>
                    <a:pt x="533435" y="68434"/>
                  </a:cubicBezTo>
                  <a:lnTo>
                    <a:pt x="533435" y="188727"/>
                  </a:lnTo>
                  <a:cubicBezTo>
                    <a:pt x="533435" y="206877"/>
                    <a:pt x="526225" y="224283"/>
                    <a:pt x="513391" y="237117"/>
                  </a:cubicBezTo>
                  <a:cubicBezTo>
                    <a:pt x="500557" y="249951"/>
                    <a:pt x="483151" y="257161"/>
                    <a:pt x="465001" y="257161"/>
                  </a:cubicBezTo>
                  <a:lnTo>
                    <a:pt x="68434" y="257161"/>
                  </a:lnTo>
                  <a:cubicBezTo>
                    <a:pt x="50284" y="257161"/>
                    <a:pt x="32878" y="249951"/>
                    <a:pt x="20044" y="237117"/>
                  </a:cubicBezTo>
                  <a:cubicBezTo>
                    <a:pt x="7210" y="224283"/>
                    <a:pt x="0" y="206877"/>
                    <a:pt x="0" y="188727"/>
                  </a:cubicBezTo>
                  <a:lnTo>
                    <a:pt x="0" y="68434"/>
                  </a:lnTo>
                  <a:cubicBezTo>
                    <a:pt x="0" y="50284"/>
                    <a:pt x="7210" y="32878"/>
                    <a:pt x="20044" y="20044"/>
                  </a:cubicBezTo>
                  <a:cubicBezTo>
                    <a:pt x="32878" y="7210"/>
                    <a:pt x="50284" y="0"/>
                    <a:pt x="68434" y="0"/>
                  </a:cubicBezTo>
                  <a:close/>
                </a:path>
              </a:pathLst>
            </a:custGeom>
            <a:solidFill>
              <a:srgbClr val="FF3131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66675"/>
              <a:ext cx="533435" cy="32383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54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476842" y="7736237"/>
            <a:ext cx="3715880" cy="2258906"/>
            <a:chOff x="0" y="0"/>
            <a:chExt cx="1095075" cy="665702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095075" cy="665702"/>
            </a:xfrm>
            <a:custGeom>
              <a:avLst/>
              <a:gdLst/>
              <a:ahLst/>
              <a:cxnLst/>
              <a:rect l="l" t="t" r="r" b="b"/>
              <a:pathLst>
                <a:path w="1095075" h="665702">
                  <a:moveTo>
                    <a:pt x="33335" y="0"/>
                  </a:moveTo>
                  <a:lnTo>
                    <a:pt x="1061739" y="0"/>
                  </a:lnTo>
                  <a:cubicBezTo>
                    <a:pt x="1070580" y="0"/>
                    <a:pt x="1079059" y="3512"/>
                    <a:pt x="1085311" y="9764"/>
                  </a:cubicBezTo>
                  <a:cubicBezTo>
                    <a:pt x="1091563" y="16015"/>
                    <a:pt x="1095075" y="24494"/>
                    <a:pt x="1095075" y="33335"/>
                  </a:cubicBezTo>
                  <a:lnTo>
                    <a:pt x="1095075" y="632367"/>
                  </a:lnTo>
                  <a:cubicBezTo>
                    <a:pt x="1095075" y="641208"/>
                    <a:pt x="1091563" y="649687"/>
                    <a:pt x="1085311" y="655939"/>
                  </a:cubicBezTo>
                  <a:cubicBezTo>
                    <a:pt x="1079059" y="662190"/>
                    <a:pt x="1070580" y="665702"/>
                    <a:pt x="1061739" y="665702"/>
                  </a:cubicBezTo>
                  <a:lnTo>
                    <a:pt x="33335" y="665702"/>
                  </a:lnTo>
                  <a:cubicBezTo>
                    <a:pt x="14925" y="665702"/>
                    <a:pt x="0" y="650778"/>
                    <a:pt x="0" y="632367"/>
                  </a:cubicBezTo>
                  <a:lnTo>
                    <a:pt x="0" y="33335"/>
                  </a:lnTo>
                  <a:cubicBezTo>
                    <a:pt x="0" y="24494"/>
                    <a:pt x="3512" y="16015"/>
                    <a:pt x="9764" y="9764"/>
                  </a:cubicBezTo>
                  <a:cubicBezTo>
                    <a:pt x="16015" y="3512"/>
                    <a:pt x="24494" y="0"/>
                    <a:pt x="33335" y="0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66675"/>
              <a:ext cx="1095075" cy="73237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54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524696" y="1002035"/>
            <a:ext cx="3677460" cy="2333935"/>
            <a:chOff x="0" y="0"/>
            <a:chExt cx="1083752" cy="687814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083752" cy="687814"/>
            </a:xfrm>
            <a:custGeom>
              <a:avLst/>
              <a:gdLst/>
              <a:ahLst/>
              <a:cxnLst/>
              <a:rect l="l" t="t" r="r" b="b"/>
              <a:pathLst>
                <a:path w="1083752" h="687814">
                  <a:moveTo>
                    <a:pt x="33684" y="0"/>
                  </a:moveTo>
                  <a:lnTo>
                    <a:pt x="1050068" y="0"/>
                  </a:lnTo>
                  <a:cubicBezTo>
                    <a:pt x="1068671" y="0"/>
                    <a:pt x="1083752" y="15081"/>
                    <a:pt x="1083752" y="33684"/>
                  </a:cubicBezTo>
                  <a:lnTo>
                    <a:pt x="1083752" y="654130"/>
                  </a:lnTo>
                  <a:cubicBezTo>
                    <a:pt x="1083752" y="672733"/>
                    <a:pt x="1068671" y="687814"/>
                    <a:pt x="1050068" y="687814"/>
                  </a:cubicBezTo>
                  <a:lnTo>
                    <a:pt x="33684" y="687814"/>
                  </a:lnTo>
                  <a:cubicBezTo>
                    <a:pt x="15081" y="687814"/>
                    <a:pt x="0" y="672733"/>
                    <a:pt x="0" y="654130"/>
                  </a:cubicBezTo>
                  <a:lnTo>
                    <a:pt x="0" y="33684"/>
                  </a:lnTo>
                  <a:cubicBezTo>
                    <a:pt x="0" y="15081"/>
                    <a:pt x="15081" y="0"/>
                    <a:pt x="33684" y="0"/>
                  </a:cubicBezTo>
                  <a:close/>
                </a:path>
              </a:pathLst>
            </a:custGeom>
            <a:solidFill>
              <a:srgbClr val="FF3131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66675"/>
              <a:ext cx="1083752" cy="7544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54"/>
                </a:lnSpc>
              </a:pPr>
              <a:endParaRPr/>
            </a:p>
          </p:txBody>
        </p:sp>
      </p:grpSp>
      <p:pic>
        <p:nvPicPr>
          <p:cNvPr id="12" name="Picture 1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3991" y="2048373"/>
            <a:ext cx="2361943" cy="1377800"/>
          </a:xfrm>
          <a:prstGeom prst="rect">
            <a:avLst/>
          </a:prstGeom>
        </p:spPr>
      </p:pic>
      <p:grpSp>
        <p:nvGrpSpPr>
          <p:cNvPr id="13" name="Group 13"/>
          <p:cNvGrpSpPr/>
          <p:nvPr/>
        </p:nvGrpSpPr>
        <p:grpSpPr>
          <a:xfrm>
            <a:off x="2397272" y="3496242"/>
            <a:ext cx="1810086" cy="872615"/>
            <a:chOff x="0" y="0"/>
            <a:chExt cx="533435" cy="257161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533435" cy="257161"/>
            </a:xfrm>
            <a:custGeom>
              <a:avLst/>
              <a:gdLst/>
              <a:ahLst/>
              <a:cxnLst/>
              <a:rect l="l" t="t" r="r" b="b"/>
              <a:pathLst>
                <a:path w="533435" h="257161">
                  <a:moveTo>
                    <a:pt x="68434" y="0"/>
                  </a:moveTo>
                  <a:lnTo>
                    <a:pt x="465001" y="0"/>
                  </a:lnTo>
                  <a:cubicBezTo>
                    <a:pt x="483151" y="0"/>
                    <a:pt x="500557" y="7210"/>
                    <a:pt x="513391" y="20044"/>
                  </a:cubicBezTo>
                  <a:cubicBezTo>
                    <a:pt x="526225" y="32878"/>
                    <a:pt x="533435" y="50284"/>
                    <a:pt x="533435" y="68434"/>
                  </a:cubicBezTo>
                  <a:lnTo>
                    <a:pt x="533435" y="188727"/>
                  </a:lnTo>
                  <a:cubicBezTo>
                    <a:pt x="533435" y="206877"/>
                    <a:pt x="526225" y="224283"/>
                    <a:pt x="513391" y="237117"/>
                  </a:cubicBezTo>
                  <a:cubicBezTo>
                    <a:pt x="500557" y="249951"/>
                    <a:pt x="483151" y="257161"/>
                    <a:pt x="465001" y="257161"/>
                  </a:cubicBezTo>
                  <a:lnTo>
                    <a:pt x="68434" y="257161"/>
                  </a:lnTo>
                  <a:cubicBezTo>
                    <a:pt x="50284" y="257161"/>
                    <a:pt x="32878" y="249951"/>
                    <a:pt x="20044" y="237117"/>
                  </a:cubicBezTo>
                  <a:cubicBezTo>
                    <a:pt x="7210" y="224283"/>
                    <a:pt x="0" y="206877"/>
                    <a:pt x="0" y="188727"/>
                  </a:cubicBezTo>
                  <a:lnTo>
                    <a:pt x="0" y="68434"/>
                  </a:lnTo>
                  <a:cubicBezTo>
                    <a:pt x="0" y="50284"/>
                    <a:pt x="7210" y="32878"/>
                    <a:pt x="20044" y="20044"/>
                  </a:cubicBezTo>
                  <a:cubicBezTo>
                    <a:pt x="32878" y="7210"/>
                    <a:pt x="50284" y="0"/>
                    <a:pt x="68434" y="0"/>
                  </a:cubicBezTo>
                  <a:close/>
                </a:path>
              </a:pathLst>
            </a:custGeom>
            <a:solidFill>
              <a:srgbClr val="65A6FA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66675"/>
              <a:ext cx="533435" cy="32383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54"/>
                </a:lnSpc>
              </a:pPr>
              <a:r>
                <a:rPr lang="en-US" sz="2099" spc="20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10/10/2025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527179" y="4469062"/>
            <a:ext cx="1810086" cy="872615"/>
            <a:chOff x="0" y="0"/>
            <a:chExt cx="533435" cy="257161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533435" cy="257161"/>
            </a:xfrm>
            <a:custGeom>
              <a:avLst/>
              <a:gdLst/>
              <a:ahLst/>
              <a:cxnLst/>
              <a:rect l="l" t="t" r="r" b="b"/>
              <a:pathLst>
                <a:path w="533435" h="257161">
                  <a:moveTo>
                    <a:pt x="68434" y="0"/>
                  </a:moveTo>
                  <a:lnTo>
                    <a:pt x="465001" y="0"/>
                  </a:lnTo>
                  <a:cubicBezTo>
                    <a:pt x="483151" y="0"/>
                    <a:pt x="500557" y="7210"/>
                    <a:pt x="513391" y="20044"/>
                  </a:cubicBezTo>
                  <a:cubicBezTo>
                    <a:pt x="526225" y="32878"/>
                    <a:pt x="533435" y="50284"/>
                    <a:pt x="533435" y="68434"/>
                  </a:cubicBezTo>
                  <a:lnTo>
                    <a:pt x="533435" y="188727"/>
                  </a:lnTo>
                  <a:cubicBezTo>
                    <a:pt x="533435" y="206877"/>
                    <a:pt x="526225" y="224283"/>
                    <a:pt x="513391" y="237117"/>
                  </a:cubicBezTo>
                  <a:cubicBezTo>
                    <a:pt x="500557" y="249951"/>
                    <a:pt x="483151" y="257161"/>
                    <a:pt x="465001" y="257161"/>
                  </a:cubicBezTo>
                  <a:lnTo>
                    <a:pt x="68434" y="257161"/>
                  </a:lnTo>
                  <a:cubicBezTo>
                    <a:pt x="50284" y="257161"/>
                    <a:pt x="32878" y="249951"/>
                    <a:pt x="20044" y="237117"/>
                  </a:cubicBezTo>
                  <a:cubicBezTo>
                    <a:pt x="7210" y="224283"/>
                    <a:pt x="0" y="206877"/>
                    <a:pt x="0" y="188727"/>
                  </a:cubicBezTo>
                  <a:lnTo>
                    <a:pt x="0" y="68434"/>
                  </a:lnTo>
                  <a:cubicBezTo>
                    <a:pt x="0" y="50284"/>
                    <a:pt x="7210" y="32878"/>
                    <a:pt x="20044" y="20044"/>
                  </a:cubicBezTo>
                  <a:cubicBezTo>
                    <a:pt x="32878" y="7210"/>
                    <a:pt x="50284" y="0"/>
                    <a:pt x="68434" y="0"/>
                  </a:cubicBezTo>
                  <a:close/>
                </a:path>
              </a:pathLst>
            </a:custGeom>
            <a:solidFill>
              <a:srgbClr val="FF3131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66675"/>
              <a:ext cx="533435" cy="32383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54"/>
                </a:lnSpc>
              </a:pPr>
              <a:endParaRPr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2399755" y="4457060"/>
            <a:ext cx="1810086" cy="872615"/>
            <a:chOff x="0" y="0"/>
            <a:chExt cx="533435" cy="257161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533435" cy="257161"/>
            </a:xfrm>
            <a:custGeom>
              <a:avLst/>
              <a:gdLst/>
              <a:ahLst/>
              <a:cxnLst/>
              <a:rect l="l" t="t" r="r" b="b"/>
              <a:pathLst>
                <a:path w="533435" h="257161">
                  <a:moveTo>
                    <a:pt x="68434" y="0"/>
                  </a:moveTo>
                  <a:lnTo>
                    <a:pt x="465001" y="0"/>
                  </a:lnTo>
                  <a:cubicBezTo>
                    <a:pt x="483151" y="0"/>
                    <a:pt x="500557" y="7210"/>
                    <a:pt x="513391" y="20044"/>
                  </a:cubicBezTo>
                  <a:cubicBezTo>
                    <a:pt x="526225" y="32878"/>
                    <a:pt x="533435" y="50284"/>
                    <a:pt x="533435" y="68434"/>
                  </a:cubicBezTo>
                  <a:lnTo>
                    <a:pt x="533435" y="188727"/>
                  </a:lnTo>
                  <a:cubicBezTo>
                    <a:pt x="533435" y="206877"/>
                    <a:pt x="526225" y="224283"/>
                    <a:pt x="513391" y="237117"/>
                  </a:cubicBezTo>
                  <a:cubicBezTo>
                    <a:pt x="500557" y="249951"/>
                    <a:pt x="483151" y="257161"/>
                    <a:pt x="465001" y="257161"/>
                  </a:cubicBezTo>
                  <a:lnTo>
                    <a:pt x="68434" y="257161"/>
                  </a:lnTo>
                  <a:cubicBezTo>
                    <a:pt x="50284" y="257161"/>
                    <a:pt x="32878" y="249951"/>
                    <a:pt x="20044" y="237117"/>
                  </a:cubicBezTo>
                  <a:cubicBezTo>
                    <a:pt x="7210" y="224283"/>
                    <a:pt x="0" y="206877"/>
                    <a:pt x="0" y="188727"/>
                  </a:cubicBezTo>
                  <a:lnTo>
                    <a:pt x="0" y="68434"/>
                  </a:lnTo>
                  <a:cubicBezTo>
                    <a:pt x="0" y="50284"/>
                    <a:pt x="7210" y="32878"/>
                    <a:pt x="20044" y="20044"/>
                  </a:cubicBezTo>
                  <a:cubicBezTo>
                    <a:pt x="32878" y="7210"/>
                    <a:pt x="50284" y="0"/>
                    <a:pt x="68434" y="0"/>
                  </a:cubicBezTo>
                  <a:close/>
                </a:path>
              </a:pathLst>
            </a:custGeom>
            <a:solidFill>
              <a:srgbClr val="65A6FA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-66675"/>
              <a:ext cx="533435" cy="32383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54"/>
                </a:lnSpc>
              </a:pPr>
              <a:r>
                <a:rPr lang="en-US" sz="2099" spc="20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17/10/2025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476842" y="6069981"/>
            <a:ext cx="3677460" cy="1523380"/>
            <a:chOff x="0" y="0"/>
            <a:chExt cx="1083752" cy="448942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1083752" cy="448942"/>
            </a:xfrm>
            <a:custGeom>
              <a:avLst/>
              <a:gdLst/>
              <a:ahLst/>
              <a:cxnLst/>
              <a:rect l="l" t="t" r="r" b="b"/>
              <a:pathLst>
                <a:path w="1083752" h="448942">
                  <a:moveTo>
                    <a:pt x="33684" y="0"/>
                  </a:moveTo>
                  <a:lnTo>
                    <a:pt x="1050068" y="0"/>
                  </a:lnTo>
                  <a:cubicBezTo>
                    <a:pt x="1068671" y="0"/>
                    <a:pt x="1083752" y="15081"/>
                    <a:pt x="1083752" y="33684"/>
                  </a:cubicBezTo>
                  <a:lnTo>
                    <a:pt x="1083752" y="415258"/>
                  </a:lnTo>
                  <a:cubicBezTo>
                    <a:pt x="1083752" y="433861"/>
                    <a:pt x="1068671" y="448942"/>
                    <a:pt x="1050068" y="448942"/>
                  </a:cubicBezTo>
                  <a:lnTo>
                    <a:pt x="33684" y="448942"/>
                  </a:lnTo>
                  <a:cubicBezTo>
                    <a:pt x="15081" y="448942"/>
                    <a:pt x="0" y="433861"/>
                    <a:pt x="0" y="415258"/>
                  </a:cubicBezTo>
                  <a:lnTo>
                    <a:pt x="0" y="33684"/>
                  </a:lnTo>
                  <a:cubicBezTo>
                    <a:pt x="0" y="15081"/>
                    <a:pt x="15081" y="0"/>
                    <a:pt x="33684" y="0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0" y="-66675"/>
              <a:ext cx="1083752" cy="51561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54"/>
                </a:lnSpc>
              </a:pPr>
              <a:endParaRPr/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4694220" y="7558243"/>
            <a:ext cx="5096314" cy="2478460"/>
            <a:chOff x="0" y="0"/>
            <a:chExt cx="1501890" cy="730405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1501890" cy="730406"/>
            </a:xfrm>
            <a:custGeom>
              <a:avLst/>
              <a:gdLst/>
              <a:ahLst/>
              <a:cxnLst/>
              <a:rect l="l" t="t" r="r" b="b"/>
              <a:pathLst>
                <a:path w="1501890" h="730406">
                  <a:moveTo>
                    <a:pt x="24306" y="0"/>
                  </a:moveTo>
                  <a:lnTo>
                    <a:pt x="1477584" y="0"/>
                  </a:lnTo>
                  <a:cubicBezTo>
                    <a:pt x="1491008" y="0"/>
                    <a:pt x="1501890" y="10882"/>
                    <a:pt x="1501890" y="24306"/>
                  </a:cubicBezTo>
                  <a:lnTo>
                    <a:pt x="1501890" y="706100"/>
                  </a:lnTo>
                  <a:cubicBezTo>
                    <a:pt x="1501890" y="719523"/>
                    <a:pt x="1491008" y="730406"/>
                    <a:pt x="1477584" y="730406"/>
                  </a:cubicBezTo>
                  <a:lnTo>
                    <a:pt x="24306" y="730406"/>
                  </a:lnTo>
                  <a:cubicBezTo>
                    <a:pt x="10882" y="730406"/>
                    <a:pt x="0" y="719523"/>
                    <a:pt x="0" y="706100"/>
                  </a:cubicBezTo>
                  <a:lnTo>
                    <a:pt x="0" y="24306"/>
                  </a:lnTo>
                  <a:cubicBezTo>
                    <a:pt x="0" y="10882"/>
                    <a:pt x="10882" y="0"/>
                    <a:pt x="24306" y="0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0" y="-66675"/>
              <a:ext cx="1501890" cy="79708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54"/>
                </a:lnSpc>
              </a:pPr>
              <a:endParaRPr/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0171534" y="7271979"/>
            <a:ext cx="8048636" cy="3015021"/>
            <a:chOff x="0" y="0"/>
            <a:chExt cx="2371943" cy="888531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2371943" cy="888531"/>
            </a:xfrm>
            <a:custGeom>
              <a:avLst/>
              <a:gdLst/>
              <a:ahLst/>
              <a:cxnLst/>
              <a:rect l="l" t="t" r="r" b="b"/>
              <a:pathLst>
                <a:path w="2371943" h="888531">
                  <a:moveTo>
                    <a:pt x="15390" y="0"/>
                  </a:moveTo>
                  <a:lnTo>
                    <a:pt x="2356553" y="0"/>
                  </a:lnTo>
                  <a:cubicBezTo>
                    <a:pt x="2360635" y="0"/>
                    <a:pt x="2364549" y="1621"/>
                    <a:pt x="2367436" y="4508"/>
                  </a:cubicBezTo>
                  <a:cubicBezTo>
                    <a:pt x="2370322" y="7394"/>
                    <a:pt x="2371943" y="11309"/>
                    <a:pt x="2371943" y="15390"/>
                  </a:cubicBezTo>
                  <a:lnTo>
                    <a:pt x="2371943" y="873140"/>
                  </a:lnTo>
                  <a:cubicBezTo>
                    <a:pt x="2371943" y="881640"/>
                    <a:pt x="2365053" y="888531"/>
                    <a:pt x="2356553" y="888531"/>
                  </a:cubicBezTo>
                  <a:lnTo>
                    <a:pt x="15390" y="888531"/>
                  </a:lnTo>
                  <a:cubicBezTo>
                    <a:pt x="6890" y="888531"/>
                    <a:pt x="0" y="881640"/>
                    <a:pt x="0" y="873140"/>
                  </a:cubicBezTo>
                  <a:lnTo>
                    <a:pt x="0" y="15390"/>
                  </a:lnTo>
                  <a:cubicBezTo>
                    <a:pt x="0" y="6890"/>
                    <a:pt x="6890" y="0"/>
                    <a:pt x="15390" y="0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-66675"/>
              <a:ext cx="2371943" cy="9552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54"/>
                </a:lnSpc>
              </a:pPr>
              <a:endParaRPr/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10492356" y="8185454"/>
            <a:ext cx="798402" cy="798651"/>
            <a:chOff x="0" y="0"/>
            <a:chExt cx="235290" cy="235364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235290" cy="235364"/>
            </a:xfrm>
            <a:custGeom>
              <a:avLst/>
              <a:gdLst/>
              <a:ahLst/>
              <a:cxnLst/>
              <a:rect l="l" t="t" r="r" b="b"/>
              <a:pathLst>
                <a:path w="235290" h="235364">
                  <a:moveTo>
                    <a:pt x="117645" y="0"/>
                  </a:moveTo>
                  <a:lnTo>
                    <a:pt x="117645" y="0"/>
                  </a:lnTo>
                  <a:cubicBezTo>
                    <a:pt x="182619" y="0"/>
                    <a:pt x="235290" y="52671"/>
                    <a:pt x="235290" y="117645"/>
                  </a:cubicBezTo>
                  <a:lnTo>
                    <a:pt x="235290" y="117718"/>
                  </a:lnTo>
                  <a:cubicBezTo>
                    <a:pt x="235290" y="182692"/>
                    <a:pt x="182619" y="235364"/>
                    <a:pt x="117645" y="235364"/>
                  </a:cubicBezTo>
                  <a:lnTo>
                    <a:pt x="117645" y="235364"/>
                  </a:lnTo>
                  <a:cubicBezTo>
                    <a:pt x="52671" y="235364"/>
                    <a:pt x="0" y="182692"/>
                    <a:pt x="0" y="117718"/>
                  </a:cubicBezTo>
                  <a:lnTo>
                    <a:pt x="0" y="117645"/>
                  </a:lnTo>
                  <a:cubicBezTo>
                    <a:pt x="0" y="52671"/>
                    <a:pt x="52671" y="0"/>
                    <a:pt x="117645" y="0"/>
                  </a:cubicBezTo>
                  <a:close/>
                </a:path>
              </a:pathLst>
            </a:custGeom>
            <a:solidFill>
              <a:srgbClr val="FF3131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0" y="-66675"/>
              <a:ext cx="235290" cy="3020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54"/>
                </a:lnSpc>
              </a:pPr>
              <a:endParaRPr/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2735880" y="7114874"/>
            <a:ext cx="355135" cy="355135"/>
            <a:chOff x="0" y="0"/>
            <a:chExt cx="812800" cy="812800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3131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76200" y="57150"/>
              <a:ext cx="660400" cy="6794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10"/>
                </a:lnSpc>
              </a:pPr>
              <a:endParaRPr/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3166537" y="9482830"/>
            <a:ext cx="355135" cy="355135"/>
            <a:chOff x="0" y="0"/>
            <a:chExt cx="812800" cy="812800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3131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76200" y="57150"/>
              <a:ext cx="660400" cy="6794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10"/>
                </a:lnSpc>
              </a:pPr>
              <a:endParaRPr/>
            </a:p>
          </p:txBody>
        </p:sp>
      </p:grpSp>
      <p:sp>
        <p:nvSpPr>
          <p:cNvPr id="40" name="Freeform 40"/>
          <p:cNvSpPr/>
          <p:nvPr/>
        </p:nvSpPr>
        <p:spPr>
          <a:xfrm>
            <a:off x="5709086" y="813752"/>
            <a:ext cx="8924897" cy="6478922"/>
          </a:xfrm>
          <a:custGeom>
            <a:avLst/>
            <a:gdLst/>
            <a:ahLst/>
            <a:cxnLst/>
            <a:rect l="l" t="t" r="r" b="b"/>
            <a:pathLst>
              <a:path w="8924897" h="6478922">
                <a:moveTo>
                  <a:pt x="0" y="0"/>
                </a:moveTo>
                <a:lnTo>
                  <a:pt x="8924896" y="0"/>
                </a:lnTo>
                <a:lnTo>
                  <a:pt x="8924896" y="6478922"/>
                </a:lnTo>
                <a:lnTo>
                  <a:pt x="0" y="647892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41" name="TextBox 41"/>
          <p:cNvSpPr txBox="1"/>
          <p:nvPr/>
        </p:nvSpPr>
        <p:spPr>
          <a:xfrm>
            <a:off x="796268" y="3648070"/>
            <a:ext cx="1462994" cy="5499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10"/>
              </a:lnSpc>
            </a:pPr>
            <a:r>
              <a:rPr lang="en-US" sz="1700" b="1" spc="17">
                <a:solidFill>
                  <a:srgbClr val="DFE7F1"/>
                </a:solidFill>
                <a:latin typeface="Canva Sans Medium"/>
                <a:ea typeface="Canva Sans Medium"/>
                <a:cs typeface="Canva Sans Medium"/>
                <a:sym typeface="Canva Sans Medium"/>
              </a:rPr>
              <a:t>Fecha de Inicio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6168075" y="-81598"/>
            <a:ext cx="6435910" cy="819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480"/>
              </a:lnSpc>
            </a:pPr>
            <a:r>
              <a:rPr lang="en-US" sz="5400" b="1">
                <a:solidFill>
                  <a:srgbClr val="006747"/>
                </a:solidFill>
                <a:latin typeface="Canva Sans Medium"/>
                <a:ea typeface="Canva Sans Medium"/>
                <a:cs typeface="Canva Sans Medium"/>
                <a:sym typeface="Canva Sans Medium"/>
              </a:rPr>
              <a:t>Resumen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756398" y="6137317"/>
            <a:ext cx="2178667" cy="273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10"/>
              </a:lnSpc>
            </a:pPr>
            <a:r>
              <a:rPr lang="en-US" sz="1700" b="1" spc="17">
                <a:solidFill>
                  <a:srgbClr val="000000"/>
                </a:solidFill>
                <a:latin typeface="Canva Sans Medium"/>
                <a:ea typeface="Canva Sans Medium"/>
                <a:cs typeface="Canva Sans Medium"/>
                <a:sym typeface="Canva Sans Medium"/>
              </a:rPr>
              <a:t>Avance Real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2729597" y="6108081"/>
            <a:ext cx="962196" cy="3270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00"/>
              </a:lnSpc>
            </a:pPr>
            <a:r>
              <a:rPr lang="en-US" sz="2000" b="1">
                <a:solidFill>
                  <a:srgbClr val="FF3131"/>
                </a:solidFill>
                <a:latin typeface="Canva Sans Medium"/>
                <a:ea typeface="Canva Sans Medium"/>
                <a:cs typeface="Canva Sans Medium"/>
                <a:sym typeface="Canva Sans Medium"/>
              </a:rPr>
              <a:t>48%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1083608" y="1252434"/>
            <a:ext cx="3291978" cy="3613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89"/>
              </a:lnSpc>
            </a:pPr>
            <a:r>
              <a:rPr lang="en-US" sz="2299" b="1" spc="22">
                <a:solidFill>
                  <a:srgbClr val="EDEDED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Fecha del Reporte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112379" y="1659283"/>
            <a:ext cx="2439224" cy="5118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60"/>
              </a:lnSpc>
            </a:pPr>
            <a:r>
              <a:rPr lang="en-US" sz="3200" b="1">
                <a:solidFill>
                  <a:srgbClr val="EDEDED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17/10/2025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982598" y="4608887"/>
            <a:ext cx="1384144" cy="5499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10"/>
              </a:lnSpc>
            </a:pPr>
            <a:r>
              <a:rPr lang="en-US" sz="1700" b="1" spc="17">
                <a:solidFill>
                  <a:srgbClr val="DFE7F1"/>
                </a:solidFill>
                <a:latin typeface="Canva Sans Medium"/>
                <a:ea typeface="Canva Sans Medium"/>
                <a:cs typeface="Canva Sans Medium"/>
                <a:sym typeface="Canva Sans Medium"/>
              </a:rPr>
              <a:t>Fecha de </a:t>
            </a:r>
          </a:p>
          <a:p>
            <a:pPr algn="l">
              <a:lnSpc>
                <a:spcPts val="2210"/>
              </a:lnSpc>
            </a:pPr>
            <a:r>
              <a:rPr lang="en-US" sz="1700" b="1" spc="17">
                <a:solidFill>
                  <a:srgbClr val="DFE7F1"/>
                </a:solidFill>
                <a:latin typeface="Canva Sans Medium"/>
                <a:ea typeface="Canva Sans Medium"/>
                <a:cs typeface="Canva Sans Medium"/>
                <a:sym typeface="Canva Sans Medium"/>
              </a:rPr>
              <a:t>Fin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770476" y="6477677"/>
            <a:ext cx="2359377" cy="273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10"/>
              </a:lnSpc>
            </a:pPr>
            <a:r>
              <a:rPr lang="en-US" sz="1700" b="1" spc="17">
                <a:solidFill>
                  <a:srgbClr val="000000"/>
                </a:solidFill>
                <a:latin typeface="Canva Sans Medium"/>
                <a:ea typeface="Canva Sans Medium"/>
                <a:cs typeface="Canva Sans Medium"/>
                <a:sym typeface="Canva Sans Medium"/>
              </a:rPr>
              <a:t>Avance Esperado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2729597" y="6448441"/>
            <a:ext cx="962196" cy="3270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00"/>
              </a:lnSpc>
            </a:pPr>
            <a:r>
              <a:rPr lang="en-US" sz="2000" b="1">
                <a:solidFill>
                  <a:srgbClr val="FF3131"/>
                </a:solidFill>
                <a:latin typeface="Canva Sans Medium"/>
                <a:ea typeface="Canva Sans Medium"/>
                <a:cs typeface="Canva Sans Medium"/>
                <a:sym typeface="Canva Sans Medium"/>
              </a:rPr>
              <a:t>52%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756398" y="6790706"/>
            <a:ext cx="1193766" cy="273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10"/>
              </a:lnSpc>
            </a:pPr>
            <a:r>
              <a:rPr lang="en-US" sz="1700" b="1" spc="17">
                <a:solidFill>
                  <a:srgbClr val="000000"/>
                </a:solidFill>
                <a:latin typeface="Canva Sans Medium"/>
                <a:ea typeface="Canva Sans Medium"/>
                <a:cs typeface="Canva Sans Medium"/>
                <a:sym typeface="Canva Sans Medium"/>
              </a:rPr>
              <a:t>Desviacion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2804629" y="6768799"/>
            <a:ext cx="693438" cy="3270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00"/>
              </a:lnSpc>
            </a:pPr>
            <a:r>
              <a:rPr lang="en-US" sz="2000" b="1">
                <a:solidFill>
                  <a:srgbClr val="FF3131"/>
                </a:solidFill>
                <a:latin typeface="Canva Sans Medium"/>
                <a:ea typeface="Canva Sans Medium"/>
                <a:cs typeface="Canva Sans Medium"/>
                <a:sym typeface="Canva Sans Medium"/>
              </a:rPr>
              <a:t>-4%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556224" y="5545471"/>
            <a:ext cx="2787880" cy="3530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59"/>
              </a:lnSpc>
            </a:pPr>
            <a:r>
              <a:rPr lang="en-US" sz="2199" b="1" i="1" spc="21">
                <a:solidFill>
                  <a:srgbClr val="000000"/>
                </a:solidFill>
                <a:latin typeface="Canva Sans Bold Italics"/>
                <a:ea typeface="Canva Sans Bold Italics"/>
                <a:cs typeface="Canva Sans Bold Italics"/>
                <a:sym typeface="Canva Sans Bold Italics"/>
              </a:rPr>
              <a:t>ESTADO  ANTERIOR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863357" y="8239241"/>
            <a:ext cx="3110245" cy="2997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69"/>
              </a:lnSpc>
            </a:pPr>
            <a:r>
              <a:rPr lang="en-US" sz="1899" b="1" spc="18">
                <a:solidFill>
                  <a:srgbClr val="000000"/>
                </a:solidFill>
                <a:latin typeface="Canva Sans Medium"/>
                <a:ea typeface="Canva Sans Medium"/>
                <a:cs typeface="Canva Sans Medium"/>
                <a:sym typeface="Canva Sans Medium"/>
              </a:rPr>
              <a:t>Avance Real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3049422" y="8197398"/>
            <a:ext cx="1238190" cy="4502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39"/>
              </a:lnSpc>
            </a:pPr>
            <a:r>
              <a:rPr lang="en-US" sz="2799" b="1">
                <a:solidFill>
                  <a:srgbClr val="FF3131"/>
                </a:solidFill>
                <a:latin typeface="Canva Sans Medium"/>
                <a:ea typeface="Canva Sans Medium"/>
                <a:cs typeface="Canva Sans Medium"/>
                <a:sym typeface="Canva Sans Medium"/>
              </a:rPr>
              <a:t>57%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851903" y="8638088"/>
            <a:ext cx="2755793" cy="2997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69"/>
              </a:lnSpc>
            </a:pPr>
            <a:r>
              <a:rPr lang="en-US" sz="1899" b="1" spc="18">
                <a:solidFill>
                  <a:srgbClr val="000000"/>
                </a:solidFill>
                <a:latin typeface="Canva Sans Medium"/>
                <a:ea typeface="Canva Sans Medium"/>
                <a:cs typeface="Canva Sans Medium"/>
                <a:sym typeface="Canva Sans Medium"/>
              </a:rPr>
              <a:t>Avance Esperado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3071353" y="8601575"/>
            <a:ext cx="1238190" cy="4502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39"/>
              </a:lnSpc>
            </a:pPr>
            <a:r>
              <a:rPr lang="en-US" sz="2799" b="1">
                <a:solidFill>
                  <a:srgbClr val="FF3131"/>
                </a:solidFill>
                <a:latin typeface="Canva Sans Medium"/>
                <a:ea typeface="Canva Sans Medium"/>
                <a:cs typeface="Canva Sans Medium"/>
                <a:sym typeface="Canva Sans Medium"/>
              </a:rPr>
              <a:t>62%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851903" y="9032740"/>
            <a:ext cx="2627914" cy="2997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69"/>
              </a:lnSpc>
            </a:pPr>
            <a:r>
              <a:rPr lang="en-US" sz="1899" b="1" spc="18">
                <a:solidFill>
                  <a:srgbClr val="000000"/>
                </a:solidFill>
                <a:latin typeface="Canva Sans Medium"/>
                <a:ea typeface="Canva Sans Medium"/>
                <a:cs typeface="Canva Sans Medium"/>
                <a:sym typeface="Canva Sans Medium"/>
              </a:rPr>
              <a:t>Desviacion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3091015" y="8994515"/>
            <a:ext cx="693438" cy="4502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39"/>
              </a:lnSpc>
            </a:pPr>
            <a:r>
              <a:rPr lang="en-US" sz="2799" b="1">
                <a:solidFill>
                  <a:srgbClr val="FF3131"/>
                </a:solidFill>
                <a:latin typeface="Canva Sans Medium"/>
                <a:ea typeface="Canva Sans Medium"/>
                <a:cs typeface="Canva Sans Medium"/>
                <a:sym typeface="Canva Sans Medium"/>
              </a:rPr>
              <a:t>-5%</a:t>
            </a:r>
          </a:p>
        </p:txBody>
      </p:sp>
      <p:sp>
        <p:nvSpPr>
          <p:cNvPr id="59" name="TextBox 59"/>
          <p:cNvSpPr txBox="1"/>
          <p:nvPr/>
        </p:nvSpPr>
        <p:spPr>
          <a:xfrm>
            <a:off x="524696" y="7762230"/>
            <a:ext cx="2787880" cy="3530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59"/>
              </a:lnSpc>
            </a:pPr>
            <a:r>
              <a:rPr lang="en-US" sz="2199" b="1" i="1" spc="21">
                <a:solidFill>
                  <a:srgbClr val="000000"/>
                </a:solidFill>
                <a:latin typeface="Canva Sans Bold Italics"/>
                <a:ea typeface="Canva Sans Bold Italics"/>
                <a:cs typeface="Canva Sans Bold Italics"/>
                <a:sym typeface="Canva Sans Bold Italics"/>
              </a:rPr>
              <a:t>ESTADO  ACTUAL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754049" y="7146306"/>
            <a:ext cx="1097410" cy="273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10"/>
              </a:lnSpc>
            </a:pPr>
            <a:r>
              <a:rPr lang="en-US" sz="1700" b="1" spc="17">
                <a:solidFill>
                  <a:srgbClr val="000000"/>
                </a:solidFill>
                <a:latin typeface="Canva Sans Medium"/>
                <a:ea typeface="Canva Sans Medium"/>
                <a:cs typeface="Canva Sans Medium"/>
                <a:sym typeface="Canva Sans Medium"/>
              </a:rPr>
              <a:t>Estado</a:t>
            </a:r>
          </a:p>
        </p:txBody>
      </p:sp>
      <p:sp>
        <p:nvSpPr>
          <p:cNvPr id="61" name="TextBox 61"/>
          <p:cNvSpPr txBox="1"/>
          <p:nvPr/>
        </p:nvSpPr>
        <p:spPr>
          <a:xfrm>
            <a:off x="4959140" y="7753895"/>
            <a:ext cx="2787880" cy="3530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59"/>
              </a:lnSpc>
            </a:pPr>
            <a:r>
              <a:rPr lang="en-US" sz="2199" b="1" i="1" spc="21">
                <a:solidFill>
                  <a:srgbClr val="000000"/>
                </a:solidFill>
                <a:latin typeface="Canva Sans Bold Italics"/>
                <a:ea typeface="Canva Sans Bold Italics"/>
                <a:cs typeface="Canva Sans Bold Italics"/>
                <a:sym typeface="Canva Sans Bold Italics"/>
              </a:rPr>
              <a:t>Logros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12603985" y="7586890"/>
            <a:ext cx="3605967" cy="3530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59"/>
              </a:lnSpc>
            </a:pPr>
            <a:r>
              <a:rPr lang="en-US" sz="2199" b="1" i="1" spc="21">
                <a:solidFill>
                  <a:srgbClr val="000000"/>
                </a:solidFill>
                <a:latin typeface="Canva Sans Bold Italics"/>
                <a:ea typeface="Canva Sans Bold Italics"/>
                <a:cs typeface="Canva Sans Bold Italics"/>
                <a:sym typeface="Canva Sans Bold Italics"/>
              </a:rPr>
              <a:t>Explicación del Desvió</a:t>
            </a:r>
          </a:p>
        </p:txBody>
      </p:sp>
      <p:sp>
        <p:nvSpPr>
          <p:cNvPr id="63" name="TextBox 63"/>
          <p:cNvSpPr txBox="1"/>
          <p:nvPr/>
        </p:nvSpPr>
        <p:spPr>
          <a:xfrm>
            <a:off x="10569383" y="8379576"/>
            <a:ext cx="644348" cy="3613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89"/>
              </a:lnSpc>
            </a:pPr>
            <a:r>
              <a:rPr lang="en-US" sz="2299" b="1">
                <a:solidFill>
                  <a:srgbClr val="FFFFFF"/>
                </a:solidFill>
                <a:latin typeface="Canva Sans Medium"/>
                <a:ea typeface="Canva Sans Medium"/>
                <a:cs typeface="Canva Sans Medium"/>
                <a:sym typeface="Canva Sans Medium"/>
              </a:rPr>
              <a:t>-5%</a:t>
            </a:r>
          </a:p>
        </p:txBody>
      </p:sp>
      <p:sp>
        <p:nvSpPr>
          <p:cNvPr id="64" name="TextBox 64"/>
          <p:cNvSpPr txBox="1"/>
          <p:nvPr/>
        </p:nvSpPr>
        <p:spPr>
          <a:xfrm>
            <a:off x="11502896" y="7962672"/>
            <a:ext cx="6151112" cy="23602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20"/>
              </a:lnSpc>
            </a:pPr>
            <a:r>
              <a:rPr lang="en-US" sz="1400" b="1" spc="14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La desviación es negativa no se ha logrado completar 5 tareas por lo tanto estamos  por bajo la curva.</a:t>
            </a:r>
          </a:p>
          <a:p>
            <a:pPr algn="l">
              <a:lnSpc>
                <a:spcPts val="1820"/>
              </a:lnSpc>
            </a:pPr>
            <a:r>
              <a:rPr lang="en-US" sz="1400" b="1" spc="14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Esto se debió a que se dedicó gran parte del tiempo a la implementación de la IA.</a:t>
            </a:r>
          </a:p>
          <a:p>
            <a:pPr algn="l">
              <a:lnSpc>
                <a:spcPts val="1820"/>
              </a:lnSpc>
            </a:pPr>
            <a:r>
              <a:rPr lang="en-US" sz="1400" b="1" spc="14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 Por esta razón, no fue posible completar las tareas MO-80, MO-81, MO-82 y MO-83, correspondientes a la aplicación móvil.</a:t>
            </a:r>
          </a:p>
          <a:p>
            <a:pPr algn="l">
              <a:lnSpc>
                <a:spcPts val="1820"/>
              </a:lnSpc>
            </a:pPr>
            <a:r>
              <a:rPr lang="en-US" sz="1400" b="1" spc="14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 En cuanto a la documentación, la tarea MO-89 aún no ha sido finalizada; resta completar los casos de uso y definir la forma en que se presentará la documentación final.</a:t>
            </a:r>
          </a:p>
          <a:p>
            <a:pPr algn="l">
              <a:lnSpc>
                <a:spcPts val="2469"/>
              </a:lnSpc>
            </a:pPr>
            <a:endParaRPr lang="en-US" sz="1400" b="1" spc="14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  <p:sp>
        <p:nvSpPr>
          <p:cNvPr id="65" name="TextBox 65"/>
          <p:cNvSpPr txBox="1"/>
          <p:nvPr/>
        </p:nvSpPr>
        <p:spPr>
          <a:xfrm>
            <a:off x="4959140" y="8299883"/>
            <a:ext cx="4302956" cy="11657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40"/>
              </a:lnSpc>
            </a:pPr>
            <a:r>
              <a:rPr lang="es-ES" sz="1800" b="1" spc="18" dirty="0">
                <a:solidFill>
                  <a:srgbClr val="000000"/>
                </a:solidFill>
                <a:latin typeface="Canva Sans Medium"/>
                <a:ea typeface="Canva Sans Medium"/>
                <a:cs typeface="Canva Sans Medium"/>
                <a:sym typeface="Canva Sans Medium"/>
              </a:rPr>
              <a:t>Se logro implementar IA la cual, utilizando los datos de mascota y despensa, genera una receta con instrucciones para preparar.</a:t>
            </a:r>
            <a:endParaRPr lang="en-US" sz="1800" b="1" spc="18" dirty="0">
              <a:solidFill>
                <a:srgbClr val="000000"/>
              </a:solidFill>
              <a:latin typeface="Canva Sans Medium"/>
              <a:ea typeface="Canva Sans Medium"/>
              <a:cs typeface="Canva Sans Medium"/>
              <a:sym typeface="Canva Sans Medium"/>
            </a:endParaRPr>
          </a:p>
        </p:txBody>
      </p:sp>
      <p:sp>
        <p:nvSpPr>
          <p:cNvPr id="66" name="TextBox 66"/>
          <p:cNvSpPr txBox="1"/>
          <p:nvPr/>
        </p:nvSpPr>
        <p:spPr>
          <a:xfrm>
            <a:off x="863357" y="9435205"/>
            <a:ext cx="982375" cy="2997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69"/>
              </a:lnSpc>
            </a:pPr>
            <a:r>
              <a:rPr lang="en-US" sz="1899" b="1" spc="18">
                <a:solidFill>
                  <a:srgbClr val="000000"/>
                </a:solidFill>
                <a:latin typeface="Canva Sans Medium"/>
                <a:ea typeface="Canva Sans Medium"/>
                <a:cs typeface="Canva Sans Medium"/>
                <a:sym typeface="Canva Sans Medium"/>
              </a:rPr>
              <a:t>Estado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5400000">
            <a:off x="4000500" y="-4000500"/>
            <a:ext cx="10287000" cy="18288000"/>
          </a:xfrm>
          <a:custGeom>
            <a:avLst/>
            <a:gdLst/>
            <a:ahLst/>
            <a:cxnLst/>
            <a:rect l="l" t="t" r="r" b="b"/>
            <a:pathLst>
              <a:path w="10287000" h="18288000">
                <a:moveTo>
                  <a:pt x="0" y="18288000"/>
                </a:moveTo>
                <a:lnTo>
                  <a:pt x="0" y="0"/>
                </a:lnTo>
                <a:lnTo>
                  <a:pt x="10287000" y="0"/>
                </a:lnTo>
                <a:lnTo>
                  <a:pt x="10287000" y="18288000"/>
                </a:lnTo>
                <a:lnTo>
                  <a:pt x="0" y="18288000"/>
                </a:lnTo>
                <a:close/>
              </a:path>
            </a:pathLst>
          </a:custGeom>
          <a:blipFill>
            <a:blip r:embed="rId2"/>
            <a:stretch>
              <a:fillRect l="-12888" r="-12888"/>
            </a:stretch>
          </a:blipFill>
        </p:spPr>
        <p:txBody>
          <a:bodyPr/>
          <a:lstStyle/>
          <a:p>
            <a:endParaRPr lang="es-ES"/>
          </a:p>
        </p:txBody>
      </p:sp>
      <p:graphicFrame>
        <p:nvGraphicFramePr>
          <p:cNvPr id="3" name="Table 3"/>
          <p:cNvGraphicFramePr>
            <a:graphicFrameLocks noGrp="1"/>
          </p:cNvGraphicFramePr>
          <p:nvPr/>
        </p:nvGraphicFramePr>
        <p:xfrm>
          <a:off x="428238" y="857250"/>
          <a:ext cx="16576010" cy="5628099"/>
        </p:xfrm>
        <a:graphic>
          <a:graphicData uri="http://schemas.openxmlformats.org/drawingml/2006/table">
            <a:tbl>
              <a:tblPr/>
              <a:tblGrid>
                <a:gridCol w="10513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983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6136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4619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8534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97387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72864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3086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352179"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238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1700" b="1" u="none" strike="noStrike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ID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313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238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1700" b="1" u="none" strike="noStrike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RIESGO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313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238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17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Nivel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313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238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1700" b="1" u="none" strike="noStrike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PLAN DE MITIGACION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313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238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1700" b="1" u="none" strike="noStrike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RESPONSABLE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313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238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1700" b="1" u="none" strike="noStrike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TIPO DE IMPACTO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313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238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1700" b="1" u="none" strike="noStrike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PLAZO DE IMPLENTACION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313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238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1700" b="1" u="none" strike="noStrike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ESTADO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313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50855"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238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1700" b="1" u="none" strike="noStrike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R-01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238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1700" b="1" u="none" strike="noStrike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Falta de algún integrante clave durante el sprint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238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170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ALTO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224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1600" b="1" u="none" strike="noStrike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Definir dentro del equipo quien asumirá la responsabilidad de las tareas 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238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1700" b="1" u="none" strike="noStrike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Gonzalo troncoso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238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1700" b="1" u="none" strike="noStrike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Tiempo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238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1700" b="1" u="none" strike="noStrike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01/11/2025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238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1700" b="1" u="none" strike="noStrike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Abierto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70174"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238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1700" b="1" u="none" strike="noStrike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R-02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238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1700" b="1" u="none" strike="noStrike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Riesgo de demostración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238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170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ALTO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238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170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V</a:t>
                      </a:r>
                      <a:r>
                        <a:rPr lang="en-US" sz="1700" b="1" u="none" strike="noStrike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ideo demo offline, Servidor Local.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238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1700" b="1" u="none" strike="noStrike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Leandro Valenzuela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238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1700" b="1" u="none" strike="noStrike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Resputacional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238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1700" b="1" u="none" strike="noStrike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21/11/2025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238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1700" b="1" u="none" strike="noStrike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Abierto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54891"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238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1700" b="1" u="none" strike="noStrike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R-03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238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1700" b="1" u="none" strike="noStrike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Exposición de credenciales o repositorio mal configurado.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238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170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ALTO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238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1700" b="1" u="none" strike="noStrike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Repositorios Privado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238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1700" b="1" u="none" strike="noStrike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Leandro Valenzuela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238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1700" b="1" u="none" strike="noStrike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Resputacional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238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1700" b="1" u="none" strike="noStrike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21/11/2025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238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170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Abierto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" name="TextBox 4"/>
          <p:cNvSpPr txBox="1"/>
          <p:nvPr/>
        </p:nvSpPr>
        <p:spPr>
          <a:xfrm>
            <a:off x="586804" y="171450"/>
            <a:ext cx="6435910" cy="571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560"/>
              </a:lnSpc>
            </a:pPr>
            <a:r>
              <a:rPr lang="en-US" sz="3800" b="1">
                <a:solidFill>
                  <a:srgbClr val="006747"/>
                </a:solidFill>
                <a:latin typeface="Canva Sans Medium"/>
                <a:ea typeface="Canva Sans Medium"/>
                <a:cs typeface="Canva Sans Medium"/>
                <a:sym typeface="Canva Sans Medium"/>
              </a:rPr>
              <a:t>Riesgo asociado</a:t>
            </a:r>
          </a:p>
        </p:txBody>
      </p:sp>
      <p:graphicFrame>
        <p:nvGraphicFramePr>
          <p:cNvPr id="5" name="Table 5"/>
          <p:cNvGraphicFramePr>
            <a:graphicFrameLocks noGrp="1"/>
          </p:cNvGraphicFramePr>
          <p:nvPr/>
        </p:nvGraphicFramePr>
        <p:xfrm>
          <a:off x="428238" y="7002863"/>
          <a:ext cx="16576008" cy="2857501"/>
        </p:xfrm>
        <a:graphic>
          <a:graphicData uri="http://schemas.openxmlformats.org/drawingml/2006/table">
            <a:tbl>
              <a:tblPr/>
              <a:tblGrid>
                <a:gridCol w="10419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848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5784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1009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7437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9806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00876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762644"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238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1700" b="1" u="none" strike="noStrike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ID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313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238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17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Descripcion del problema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313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238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17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criticidad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313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238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17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acciones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313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238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1700" b="1">
                          <a:solidFill>
                            <a:srgbClr val="FEFEFE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Responsable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313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238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1700" b="1">
                          <a:solidFill>
                            <a:srgbClr val="FEFEFE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Fecha de cierre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313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238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1700" b="1" u="none" strike="noStrike">
                          <a:solidFill>
                            <a:srgbClr val="FEFEFE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ESTADO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313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32948"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238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170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R-10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238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170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IA tiene límite de consultas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238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170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Alto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238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170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Usar IA local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238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170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Leandro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238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170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16/10/2025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238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170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Cerrado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61909"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238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17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R-11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238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17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Error en testing de proyecto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238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170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Alto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238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170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Se ajusta la versión de todos los devs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238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17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Leandro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238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170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18/10/2025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238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17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Cerrado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" name="TextBox 6"/>
          <p:cNvSpPr txBox="1"/>
          <p:nvPr/>
        </p:nvSpPr>
        <p:spPr>
          <a:xfrm>
            <a:off x="428238" y="6431363"/>
            <a:ext cx="15176887" cy="571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560"/>
              </a:lnSpc>
            </a:pPr>
            <a:r>
              <a:rPr lang="en-US" sz="3800" b="1">
                <a:solidFill>
                  <a:srgbClr val="006747"/>
                </a:solidFill>
                <a:latin typeface="Canva Sans Medium"/>
                <a:ea typeface="Canva Sans Medium"/>
                <a:cs typeface="Canva Sans Medium"/>
                <a:sym typeface="Canva Sans Medium"/>
              </a:rPr>
              <a:t>Registro de incidencia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6170106" y="171450"/>
            <a:ext cx="6435910" cy="685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400"/>
              </a:lnSpc>
            </a:pPr>
            <a:r>
              <a:rPr lang="en-US" sz="4500" b="1">
                <a:solidFill>
                  <a:srgbClr val="006747"/>
                </a:solidFill>
                <a:latin typeface="Canva Sans Medium"/>
                <a:ea typeface="Canva Sans Medium"/>
                <a:cs typeface="Canva Sans Medium"/>
                <a:sym typeface="Canva Sans Medium"/>
              </a:rPr>
              <a:t>03 Riesgo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5400000">
            <a:off x="4000500" y="-4000500"/>
            <a:ext cx="10287000" cy="18288000"/>
          </a:xfrm>
          <a:custGeom>
            <a:avLst/>
            <a:gdLst/>
            <a:ahLst/>
            <a:cxnLst/>
            <a:rect l="l" t="t" r="r" b="b"/>
            <a:pathLst>
              <a:path w="10287000" h="18288000">
                <a:moveTo>
                  <a:pt x="0" y="18288000"/>
                </a:moveTo>
                <a:lnTo>
                  <a:pt x="0" y="0"/>
                </a:lnTo>
                <a:lnTo>
                  <a:pt x="10287000" y="0"/>
                </a:lnTo>
                <a:lnTo>
                  <a:pt x="10287000" y="18288000"/>
                </a:lnTo>
                <a:lnTo>
                  <a:pt x="0" y="18288000"/>
                </a:lnTo>
                <a:close/>
              </a:path>
            </a:pathLst>
          </a:custGeom>
          <a:blipFill>
            <a:blip r:embed="rId2"/>
            <a:stretch>
              <a:fillRect l="-12888" r="-12888"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3" name="Freeform 3"/>
          <p:cNvSpPr/>
          <p:nvPr/>
        </p:nvSpPr>
        <p:spPr>
          <a:xfrm>
            <a:off x="3568580" y="1028700"/>
            <a:ext cx="12601796" cy="9136302"/>
          </a:xfrm>
          <a:custGeom>
            <a:avLst/>
            <a:gdLst/>
            <a:ahLst/>
            <a:cxnLst/>
            <a:rect l="l" t="t" r="r" b="b"/>
            <a:pathLst>
              <a:path w="12601796" h="9136302">
                <a:moveTo>
                  <a:pt x="0" y="0"/>
                </a:moveTo>
                <a:lnTo>
                  <a:pt x="12601797" y="0"/>
                </a:lnTo>
                <a:lnTo>
                  <a:pt x="12601797" y="9136302"/>
                </a:lnTo>
                <a:lnTo>
                  <a:pt x="0" y="913630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4" name="TextBox 4"/>
          <p:cNvSpPr txBox="1"/>
          <p:nvPr/>
        </p:nvSpPr>
        <p:spPr>
          <a:xfrm>
            <a:off x="5926045" y="209550"/>
            <a:ext cx="6435910" cy="819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480"/>
              </a:lnSpc>
            </a:pPr>
            <a:r>
              <a:rPr lang="en-US" sz="5400" b="1">
                <a:solidFill>
                  <a:srgbClr val="006747"/>
                </a:solidFill>
                <a:latin typeface="Canva Sans Medium"/>
                <a:ea typeface="Canva Sans Medium"/>
                <a:cs typeface="Canva Sans Medium"/>
                <a:sym typeface="Canva Sans Medium"/>
              </a:rPr>
              <a:t>04 Compromisos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8E2C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3774619" y="-1138445"/>
            <a:ext cx="11062159" cy="11425445"/>
            <a:chOff x="0" y="0"/>
            <a:chExt cx="1044796" cy="107910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044796" cy="1079108"/>
            </a:xfrm>
            <a:custGeom>
              <a:avLst/>
              <a:gdLst/>
              <a:ahLst/>
              <a:cxnLst/>
              <a:rect l="l" t="t" r="r" b="b"/>
              <a:pathLst>
                <a:path w="1044796" h="1079108">
                  <a:moveTo>
                    <a:pt x="522398" y="0"/>
                  </a:moveTo>
                  <a:cubicBezTo>
                    <a:pt x="233886" y="0"/>
                    <a:pt x="0" y="241566"/>
                    <a:pt x="0" y="539554"/>
                  </a:cubicBezTo>
                  <a:cubicBezTo>
                    <a:pt x="0" y="837541"/>
                    <a:pt x="233886" y="1079108"/>
                    <a:pt x="522398" y="1079108"/>
                  </a:cubicBezTo>
                  <a:cubicBezTo>
                    <a:pt x="810910" y="1079108"/>
                    <a:pt x="1044796" y="837541"/>
                    <a:pt x="1044796" y="539554"/>
                  </a:cubicBezTo>
                  <a:cubicBezTo>
                    <a:pt x="1044796" y="241566"/>
                    <a:pt x="810910" y="0"/>
                    <a:pt x="522398" y="0"/>
                  </a:cubicBezTo>
                  <a:close/>
                </a:path>
              </a:pathLst>
            </a:custGeom>
            <a:solidFill>
              <a:srgbClr val="FEFEFE">
                <a:alpha val="72941"/>
              </a:srgbClr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97950" y="63066"/>
              <a:ext cx="848897" cy="9148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241050" y="2062614"/>
            <a:ext cx="6397421" cy="5023327"/>
          </a:xfrm>
          <a:custGeom>
            <a:avLst/>
            <a:gdLst/>
            <a:ahLst/>
            <a:cxnLst/>
            <a:rect l="l" t="t" r="r" b="b"/>
            <a:pathLst>
              <a:path w="6397421" h="5023327">
                <a:moveTo>
                  <a:pt x="0" y="0"/>
                </a:moveTo>
                <a:lnTo>
                  <a:pt x="6397421" y="0"/>
                </a:lnTo>
                <a:lnTo>
                  <a:pt x="6397421" y="5023327"/>
                </a:lnTo>
                <a:lnTo>
                  <a:pt x="0" y="502332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6" name="Freeform 6"/>
          <p:cNvSpPr/>
          <p:nvPr/>
        </p:nvSpPr>
        <p:spPr>
          <a:xfrm>
            <a:off x="10021736" y="8032532"/>
            <a:ext cx="7737381" cy="1843955"/>
          </a:xfrm>
          <a:custGeom>
            <a:avLst/>
            <a:gdLst/>
            <a:ahLst/>
            <a:cxnLst/>
            <a:rect l="l" t="t" r="r" b="b"/>
            <a:pathLst>
              <a:path w="7737381" h="1843955">
                <a:moveTo>
                  <a:pt x="0" y="0"/>
                </a:moveTo>
                <a:lnTo>
                  <a:pt x="7737381" y="0"/>
                </a:lnTo>
                <a:lnTo>
                  <a:pt x="7737381" y="1843956"/>
                </a:lnTo>
                <a:lnTo>
                  <a:pt x="0" y="184395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7" name="TextBox 7"/>
          <p:cNvSpPr txBox="1"/>
          <p:nvPr/>
        </p:nvSpPr>
        <p:spPr>
          <a:xfrm>
            <a:off x="8412848" y="4574277"/>
            <a:ext cx="8648195" cy="1171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239"/>
              </a:lnSpc>
            </a:pPr>
            <a:r>
              <a:rPr lang="en-US" sz="7699">
                <a:solidFill>
                  <a:srgbClr val="00674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“Muchas gracias ”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210330" y="1491114"/>
            <a:ext cx="5054763" cy="1143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560"/>
              </a:lnSpc>
              <a:spcBef>
                <a:spcPct val="0"/>
              </a:spcBef>
            </a:pPr>
            <a:r>
              <a:rPr lang="en-US" sz="3800" b="1">
                <a:solidFill>
                  <a:srgbClr val="517A7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Comer bien también es dar amor.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337</Words>
  <Application>Microsoft Office PowerPoint</Application>
  <PresentationFormat>Personalizado</PresentationFormat>
  <Paragraphs>102</Paragraphs>
  <Slides>9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9</vt:i4>
      </vt:variant>
    </vt:vector>
  </HeadingPairs>
  <TitlesOfParts>
    <vt:vector size="17" baseType="lpstr">
      <vt:lpstr>Montaser Arabic</vt:lpstr>
      <vt:lpstr>Canva Sans</vt:lpstr>
      <vt:lpstr>Canva Sans Medium</vt:lpstr>
      <vt:lpstr>Arial</vt:lpstr>
      <vt:lpstr>Canva Sans Bold</vt:lpstr>
      <vt:lpstr>Calibri</vt:lpstr>
      <vt:lpstr>Canva Sans Bold Italics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06 Fecha 17.10.25 Avance</dc:title>
  <cp:lastModifiedBy>LEANDRO . VALENZUELA SANCHEZ</cp:lastModifiedBy>
  <cp:revision>2</cp:revision>
  <dcterms:created xsi:type="dcterms:W3CDTF">2006-08-16T00:00:00Z</dcterms:created>
  <dcterms:modified xsi:type="dcterms:W3CDTF">2025-10-18T00:01:14Z</dcterms:modified>
  <dc:identifier>DAG0qV1gGAQ</dc:identifier>
</cp:coreProperties>
</file>